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9"/>
  </p:notesMasterIdLst>
  <p:sldIdLst>
    <p:sldId id="256" r:id="rId2"/>
    <p:sldId id="257" r:id="rId3"/>
    <p:sldId id="258" r:id="rId4"/>
    <p:sldId id="278" r:id="rId5"/>
    <p:sldId id="261" r:id="rId6"/>
    <p:sldId id="279" r:id="rId7"/>
    <p:sldId id="280" r:id="rId8"/>
    <p:sldId id="269" r:id="rId9"/>
    <p:sldId id="270" r:id="rId10"/>
    <p:sldId id="271" r:id="rId11"/>
    <p:sldId id="272" r:id="rId12"/>
    <p:sldId id="273" r:id="rId13"/>
    <p:sldId id="274" r:id="rId14"/>
    <p:sldId id="268" r:id="rId15"/>
    <p:sldId id="281" r:id="rId16"/>
    <p:sldId id="277" r:id="rId17"/>
    <p:sldId id="25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
      <p:font typeface="Lato Black" panose="020F0502020204030203" pitchFamily="34" charset="0"/>
      <p:bold r:id="rId24"/>
      <p:boldItalic r:id="rId25"/>
    </p:embeddedFont>
    <p:embeddedFont>
      <p:font typeface="Libre Baskerville" panose="02000000000000000000" pitchFamily="2" charset="0"/>
      <p:regular r:id="rId26"/>
      <p:bold r:id="rId27"/>
      <p:italic r:id="rId28"/>
    </p:embeddedFont>
    <p:embeddedFont>
      <p:font typeface="Wingdings 3" panose="05040102010807070707" pitchFamily="18" charset="2"/>
      <p:regular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77" autoAdjust="0"/>
    <p:restoredTop sz="86410" autoAdjust="0"/>
  </p:normalViewPr>
  <p:slideViewPr>
    <p:cSldViewPr snapToGrid="0">
      <p:cViewPr varScale="1">
        <p:scale>
          <a:sx n="74" d="100"/>
          <a:sy n="74" d="100"/>
        </p:scale>
        <p:origin x="898"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46051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41756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08694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47722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74880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754125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29566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33750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9288396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88716668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88455193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081383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8309602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1485919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88754722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1236428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48996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225707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0" y="3429002"/>
            <a:ext cx="12191407"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lang="en-IN" sz="3600" b="1" i="0" u="none" strike="noStrike" cap="none" dirty="0">
              <a:solidFill>
                <a:schemeClr val="bg1"/>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000000"/>
              </a:buClr>
              <a:buSzPts val="1800"/>
              <a:buFont typeface="Arial"/>
              <a:buNone/>
            </a:pPr>
            <a:r>
              <a:rPr lang="en-IN" sz="3600" b="1" i="0" u="none" strike="noStrike" cap="none" dirty="0">
                <a:solidFill>
                  <a:schemeClr val="bg1"/>
                </a:solidFill>
                <a:latin typeface="Times New Roman" panose="02020603050405020304" pitchFamily="18" charset="0"/>
                <a:ea typeface="Calibri"/>
                <a:cs typeface="Times New Roman" panose="02020603050405020304" pitchFamily="18" charset="0"/>
                <a:sym typeface="Calibri"/>
              </a:rPr>
              <a:t>Library Management System</a:t>
            </a:r>
          </a:p>
          <a:p>
            <a:pPr marL="0" marR="0" lvl="0" indent="0" algn="ctr" rtl="0">
              <a:lnSpc>
                <a:spcPct val="100000"/>
              </a:lnSpc>
              <a:spcBef>
                <a:spcPts val="0"/>
              </a:spcBef>
              <a:spcAft>
                <a:spcPts val="0"/>
              </a:spcAft>
              <a:buClr>
                <a:srgbClr val="000000"/>
              </a:buClr>
              <a:buSzPts val="1800"/>
              <a:buFont typeface="Arial"/>
              <a:buNone/>
            </a:pPr>
            <a:endParaRPr lang="en-IN" sz="3600" b="1" dirty="0">
              <a:solidFill>
                <a:schemeClr val="bg1"/>
              </a:solidFill>
              <a:latin typeface="Times New Roman" panose="02020603050405020304" pitchFamily="18" charset="0"/>
              <a:ea typeface="Calibri"/>
              <a:cs typeface="Times New Roman" panose="02020603050405020304" pitchFamily="18" charset="0"/>
              <a:sym typeface="Calibri"/>
            </a:endParaRPr>
          </a:p>
        </p:txBody>
      </p:sp>
      <p:sp>
        <p:nvSpPr>
          <p:cNvPr id="3" name="TextBox 2">
            <a:extLst>
              <a:ext uri="{FF2B5EF4-FFF2-40B4-BE49-F238E27FC236}">
                <a16:creationId xmlns:a16="http://schemas.microsoft.com/office/drawing/2014/main" id="{4054913F-59DE-9ED7-2A84-9F115609FBAF}"/>
              </a:ext>
            </a:extLst>
          </p:cNvPr>
          <p:cNvSpPr txBox="1"/>
          <p:nvPr/>
        </p:nvSpPr>
        <p:spPr>
          <a:xfrm>
            <a:off x="883228" y="5754027"/>
            <a:ext cx="2182091" cy="369332"/>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Teemara Sai</a:t>
            </a:r>
            <a:endParaRPr lang="en-IN"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427654" y="1091350"/>
            <a:ext cx="10129509" cy="2677616"/>
          </a:xfrm>
          <a:prstGeom prst="rect">
            <a:avLst/>
          </a:prstGeom>
          <a:noFill/>
          <a:ln>
            <a:noFill/>
          </a:ln>
        </p:spPr>
        <p:txBody>
          <a:bodyPr spcFirstLastPara="1" wrap="square" lIns="91425" tIns="45700" rIns="91425" bIns="45700" anchor="t" anchorCtr="0">
            <a:spAutoFit/>
          </a:bodyPr>
          <a:lstStyle/>
          <a:p>
            <a:pPr marL="285750" marR="0" lvl="0" indent="-323850" algn="l" rtl="0">
              <a:lnSpc>
                <a:spcPct val="100000"/>
              </a:lnSpc>
              <a:spcBef>
                <a:spcPts val="0"/>
              </a:spcBef>
              <a:spcAft>
                <a:spcPts val="0"/>
              </a:spcAft>
              <a:buClr>
                <a:schemeClr val="dk1"/>
              </a:buClr>
              <a:buSzPts val="2400"/>
              <a:buFont typeface="Arial"/>
              <a:buChar char="•"/>
            </a:pPr>
            <a:r>
              <a:rPr lang="en-IN" sz="2400" b="1" dirty="0">
                <a:latin typeface="Times New Roman" panose="02020603050405020304" pitchFamily="18" charset="0"/>
                <a:ea typeface="Calibri"/>
                <a:cs typeface="Times New Roman" panose="02020603050405020304" pitchFamily="18" charset="0"/>
                <a:sym typeface="Calibri"/>
              </a:rPr>
              <a:t>Name             : </a:t>
            </a:r>
            <a:r>
              <a:rPr lang="en-IN" sz="2400" dirty="0">
                <a:latin typeface="Times New Roman" panose="02020603050405020304" pitchFamily="18" charset="0"/>
                <a:ea typeface="Calibri"/>
                <a:cs typeface="Times New Roman" panose="02020603050405020304" pitchFamily="18" charset="0"/>
                <a:sym typeface="Calibri"/>
              </a:rPr>
              <a:t>TEEMARA SAI</a:t>
            </a:r>
            <a:endParaRPr sz="2400" i="0" u="none" strike="noStrike" cap="none" dirty="0">
              <a:latin typeface="Times New Roman" panose="02020603050405020304" pitchFamily="18" charset="0"/>
              <a:ea typeface="Calibri"/>
              <a:cs typeface="Times New Roman" panose="02020603050405020304" pitchFamily="18" charset="0"/>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IN" sz="2400" b="1" i="0" u="none" strike="noStrike" cap="none" dirty="0">
                <a:latin typeface="Times New Roman" panose="02020603050405020304" pitchFamily="18" charset="0"/>
                <a:ea typeface="Calibri"/>
                <a:cs typeface="Times New Roman" panose="02020603050405020304" pitchFamily="18" charset="0"/>
                <a:sym typeface="Calibri"/>
              </a:rPr>
              <a:t>Background  :  </a:t>
            </a:r>
            <a:r>
              <a:rPr lang="en-IN" sz="2400" i="0" u="none" strike="noStrike" cap="none" dirty="0" err="1">
                <a:latin typeface="Times New Roman" panose="02020603050405020304" pitchFamily="18" charset="0"/>
                <a:ea typeface="Calibri"/>
                <a:cs typeface="Times New Roman" panose="02020603050405020304" pitchFamily="18" charset="0"/>
                <a:sym typeface="Calibri"/>
              </a:rPr>
              <a:t>B.Tech</a:t>
            </a:r>
            <a:r>
              <a:rPr lang="en-IN" sz="2400" i="0" u="none" strike="noStrike" cap="none" dirty="0">
                <a:latin typeface="Times New Roman" panose="02020603050405020304" pitchFamily="18" charset="0"/>
                <a:ea typeface="Calibri"/>
                <a:cs typeface="Times New Roman" panose="02020603050405020304" pitchFamily="18" charset="0"/>
                <a:sym typeface="Calibri"/>
              </a:rPr>
              <a:t> (Computer Science &amp; Engineering)</a:t>
            </a:r>
            <a:endParaRPr sz="2400" i="0" u="none" strike="noStrike" cap="none" dirty="0">
              <a:latin typeface="Times New Roman" panose="02020603050405020304" pitchFamily="18" charset="0"/>
              <a:ea typeface="Calibri"/>
              <a:cs typeface="Times New Roman" panose="02020603050405020304" pitchFamily="18" charset="0"/>
              <a:sym typeface="Calibri"/>
            </a:endParaRPr>
          </a:p>
          <a:p>
            <a:pPr marL="285750" lvl="0" indent="-323850">
              <a:buClr>
                <a:schemeClr val="dk1"/>
              </a:buClr>
              <a:buSzPts val="2400"/>
              <a:buFont typeface="Arial"/>
              <a:buChar char="•"/>
            </a:pPr>
            <a:r>
              <a:rPr lang="en-IN" sz="2400" b="1" dirty="0" err="1">
                <a:latin typeface="Times New Roman" panose="02020603050405020304" pitchFamily="18" charset="0"/>
                <a:ea typeface="Calibri"/>
                <a:cs typeface="Times New Roman" panose="02020603050405020304" pitchFamily="18" charset="0"/>
                <a:sym typeface="Calibri"/>
              </a:rPr>
              <a:t>Linkedin</a:t>
            </a:r>
            <a:r>
              <a:rPr lang="en-IN" sz="2400" b="1" dirty="0">
                <a:latin typeface="Times New Roman" panose="02020603050405020304" pitchFamily="18" charset="0"/>
                <a:ea typeface="Calibri"/>
                <a:cs typeface="Times New Roman" panose="02020603050405020304" pitchFamily="18" charset="0"/>
                <a:sym typeface="Calibri"/>
              </a:rPr>
              <a:t>        :  </a:t>
            </a:r>
            <a:r>
              <a:rPr lang="en-IN" sz="2400" dirty="0">
                <a:latin typeface="Times New Roman" panose="02020603050405020304" pitchFamily="18" charset="0"/>
                <a:ea typeface="Calibri"/>
                <a:cs typeface="Times New Roman" panose="02020603050405020304" pitchFamily="18" charset="0"/>
                <a:sym typeface="Calibri"/>
              </a:rPr>
              <a:t>https://www.linkedin.com/in/sai-teemara-8b04ab258/</a:t>
            </a:r>
          </a:p>
          <a:p>
            <a:pPr marL="285750" lvl="0" indent="-323850">
              <a:buClr>
                <a:schemeClr val="dk1"/>
              </a:buClr>
              <a:buSzPts val="2400"/>
              <a:buFont typeface="Arial"/>
              <a:buChar char="•"/>
            </a:pPr>
            <a:r>
              <a:rPr lang="en-IN" sz="2400" b="1" i="0" u="none" strike="noStrike" cap="none" dirty="0" err="1">
                <a:latin typeface="Times New Roman" panose="02020603050405020304" pitchFamily="18" charset="0"/>
                <a:ea typeface="Calibri"/>
                <a:cs typeface="Times New Roman" panose="02020603050405020304" pitchFamily="18" charset="0"/>
                <a:sym typeface="Calibri"/>
              </a:rPr>
              <a:t>Github</a:t>
            </a:r>
            <a:r>
              <a:rPr lang="en-IN" sz="2400" b="1" i="0" u="none" strike="noStrike" cap="none" dirty="0">
                <a:latin typeface="Times New Roman" panose="02020603050405020304" pitchFamily="18" charset="0"/>
                <a:ea typeface="Calibri"/>
                <a:cs typeface="Times New Roman" panose="02020603050405020304" pitchFamily="18" charset="0"/>
                <a:sym typeface="Calibri"/>
              </a:rPr>
              <a:t>           </a:t>
            </a:r>
            <a:r>
              <a:rPr lang="en-IN" sz="2400" b="1" dirty="0">
                <a:latin typeface="Times New Roman" panose="02020603050405020304" pitchFamily="18" charset="0"/>
                <a:ea typeface="Calibri"/>
                <a:cs typeface="Times New Roman" panose="02020603050405020304" pitchFamily="18" charset="0"/>
                <a:sym typeface="Calibri"/>
              </a:rPr>
              <a:t>:   </a:t>
            </a:r>
            <a:r>
              <a:rPr lang="en-IN" sz="2400" dirty="0">
                <a:latin typeface="Times New Roman" panose="02020603050405020304" pitchFamily="18" charset="0"/>
                <a:ea typeface="Calibri"/>
                <a:cs typeface="Times New Roman" panose="02020603050405020304" pitchFamily="18" charset="0"/>
                <a:sym typeface="Calibri"/>
              </a:rPr>
              <a:t>github.com/</a:t>
            </a:r>
            <a:r>
              <a:rPr lang="en-IN" sz="2400" dirty="0" err="1">
                <a:latin typeface="Times New Roman" panose="02020603050405020304" pitchFamily="18" charset="0"/>
                <a:ea typeface="Calibri"/>
                <a:cs typeface="Times New Roman" panose="02020603050405020304" pitchFamily="18" charset="0"/>
                <a:sym typeface="Calibri"/>
              </a:rPr>
              <a:t>saiteemara</a:t>
            </a:r>
            <a:endParaRPr sz="2400" i="0" u="none" strike="noStrike" cap="none" dirty="0">
              <a:latin typeface="Times New Roman" panose="02020603050405020304" pitchFamily="18" charset="0"/>
              <a:ea typeface="Calibri"/>
              <a:cs typeface="Times New Roman" panose="02020603050405020304" pitchFamily="18" charset="0"/>
              <a:sym typeface="Calibri"/>
            </a:endParaRPr>
          </a:p>
          <a:p>
            <a:pPr marR="0" lvl="0" algn="l" rtl="0">
              <a:lnSpc>
                <a:spcPct val="100000"/>
              </a:lnSpc>
              <a:spcBef>
                <a:spcPts val="0"/>
              </a:spcBef>
              <a:spcAft>
                <a:spcPts val="0"/>
              </a:spcAft>
              <a:buClr>
                <a:schemeClr val="dk1"/>
              </a:buClr>
              <a:buSzPts val="2400"/>
            </a:pPr>
            <a:endParaRPr lang="en-IN" sz="2400" dirty="0">
              <a:latin typeface="Times New Roman" panose="02020603050405020304" pitchFamily="18" charset="0"/>
              <a:ea typeface="Calibri"/>
              <a:cs typeface="Times New Roman" panose="02020603050405020304" pitchFamily="18" charset="0"/>
              <a:sym typeface="Calibri"/>
            </a:endParaRPr>
          </a:p>
          <a:p>
            <a:pPr marL="285750" marR="0" lvl="0" indent="-323850" algn="l" rtl="0">
              <a:lnSpc>
                <a:spcPct val="100000"/>
              </a:lnSpc>
              <a:spcBef>
                <a:spcPts val="0"/>
              </a:spcBef>
              <a:spcAft>
                <a:spcPts val="0"/>
              </a:spcAft>
              <a:buClr>
                <a:schemeClr val="dk1"/>
              </a:buClr>
              <a:buSzPts val="2400"/>
              <a:buFont typeface="Calibri"/>
              <a:buChar char="•"/>
            </a:pPr>
            <a:endParaRPr lang="en-IN" sz="2400" b="1" i="0" u="none" strike="noStrike" cap="none" dirty="0">
              <a:latin typeface="Times New Roman" panose="02020603050405020304" pitchFamily="18" charset="0"/>
              <a:ea typeface="Calibri"/>
              <a:cs typeface="Times New Roman" panose="02020603050405020304" pitchFamily="18" charset="0"/>
              <a:sym typeface="Calibri"/>
            </a:endParaRPr>
          </a:p>
          <a:p>
            <a:pPr marL="285750" marR="0" lvl="0" indent="-323850" algn="l" rtl="0">
              <a:lnSpc>
                <a:spcPct val="100000"/>
              </a:lnSpc>
              <a:spcBef>
                <a:spcPts val="0"/>
              </a:spcBef>
              <a:spcAft>
                <a:spcPts val="0"/>
              </a:spcAft>
              <a:buClr>
                <a:schemeClr val="dk1"/>
              </a:buClr>
              <a:buSzPts val="2400"/>
              <a:buFont typeface="Calibri"/>
              <a:buChar char="•"/>
            </a:pPr>
            <a:endParaRPr sz="2400" b="1" i="0" u="none" strike="noStrike" cap="none" dirty="0">
              <a:latin typeface="Times New Roman" panose="02020603050405020304" pitchFamily="18" charset="0"/>
              <a:ea typeface="Calibri"/>
              <a:cs typeface="Times New Roman" panose="02020603050405020304" pitchFamily="18" charset="0"/>
              <a:sym typeface="Calibri"/>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a:solidFill>
                  <a:srgbClr val="FF0000"/>
                </a:solidFill>
                <a:latin typeface="Lato Black"/>
                <a:ea typeface="Lato Black"/>
                <a:cs typeface="Lato Black"/>
                <a:sym typeface="Lato Black"/>
              </a:rPr>
              <a:t>About me</a:t>
            </a:r>
            <a:endParaRPr sz="1800" b="0" i="0" u="none" strike="noStrike" cap="none">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a:solidFill>
                  <a:srgbClr val="FF0000"/>
                </a:solidFill>
              </a:rPr>
              <a:t>Agenda (This should be the PPT flow)  </a:t>
            </a:r>
            <a:endParaRPr b="1">
              <a:solidFill>
                <a:srgbClr val="FF0000"/>
              </a:solidFill>
            </a:endParaRPr>
          </a:p>
        </p:txBody>
      </p:sp>
      <p:sp>
        <p:nvSpPr>
          <p:cNvPr id="111" name="Google Shape;111;p4"/>
          <p:cNvSpPr txBox="1">
            <a:spLocks noGrp="1"/>
          </p:cNvSpPr>
          <p:nvPr>
            <p:ph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 (Key finding overall) </a:t>
            </a:r>
            <a:endParaRPr sz="2400" dirty="0"/>
          </a:p>
          <a:p>
            <a:pPr marL="457200" lvl="0" indent="-431800" algn="l" rtl="0">
              <a:lnSpc>
                <a:spcPct val="90000"/>
              </a:lnSpc>
              <a:spcBef>
                <a:spcPts val="1000"/>
              </a:spcBef>
              <a:spcAft>
                <a:spcPts val="0"/>
              </a:spcAft>
              <a:buSzPts val="2400"/>
              <a:buChar char="•"/>
            </a:pPr>
            <a:r>
              <a:rPr lang="en-IN" sz="2400" b="1" dirty="0"/>
              <a:t>Q&amp;A Slide </a:t>
            </a:r>
            <a:endParaRPr sz="2400" dirty="0"/>
          </a:p>
          <a:p>
            <a:pPr marL="457200" lvl="0" indent="-431800" algn="l" rtl="0">
              <a:lnSpc>
                <a:spcPct val="90000"/>
              </a:lnSpc>
              <a:spcBef>
                <a:spcPts val="1000"/>
              </a:spcBef>
              <a:spcAft>
                <a:spcPts val="0"/>
              </a:spcAft>
              <a:buSzPts val="2400"/>
              <a:buChar char="•"/>
            </a:pPr>
            <a:r>
              <a:rPr lang="en-IN" sz="2400" b="1" dirty="0"/>
              <a:t>Your Experience/Challenges working on SQL – Data Analysis Project.</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00B63-4EA3-B3B2-8F2A-1C5CAF321827}"/>
              </a:ext>
            </a:extLst>
          </p:cNvPr>
          <p:cNvSpPr>
            <a:spLocks noGrp="1"/>
          </p:cNvSpPr>
          <p:nvPr>
            <p:ph type="title"/>
          </p:nvPr>
        </p:nvSpPr>
        <p:spPr>
          <a:xfrm>
            <a:off x="646111" y="452718"/>
            <a:ext cx="9619679" cy="716206"/>
          </a:xfrm>
        </p:spPr>
        <p:txBody>
          <a:bodyPr/>
          <a:lstStyle/>
          <a:p>
            <a:r>
              <a:rPr lang="en-IN" sz="3200" b="1" dirty="0">
                <a:latin typeface="Times New Roman" panose="02020603050405020304" pitchFamily="18" charset="0"/>
                <a:cs typeface="Times New Roman" panose="02020603050405020304" pitchFamily="18" charset="0"/>
              </a:rPr>
              <a:t>PROJECT OBJECTIVE</a:t>
            </a:r>
          </a:p>
        </p:txBody>
      </p:sp>
      <p:sp>
        <p:nvSpPr>
          <p:cNvPr id="3" name="Content Placeholder 2">
            <a:extLst>
              <a:ext uri="{FF2B5EF4-FFF2-40B4-BE49-F238E27FC236}">
                <a16:creationId xmlns:a16="http://schemas.microsoft.com/office/drawing/2014/main" id="{4B310EDC-252E-BDBB-BDD6-E38E35FA1FCC}"/>
              </a:ext>
            </a:extLst>
          </p:cNvPr>
          <p:cNvSpPr>
            <a:spLocks noGrp="1"/>
          </p:cNvSpPr>
          <p:nvPr>
            <p:ph idx="1"/>
          </p:nvPr>
        </p:nvSpPr>
        <p:spPr>
          <a:xfrm>
            <a:off x="645132" y="1291472"/>
            <a:ext cx="10393656" cy="5113810"/>
          </a:xfrm>
        </p:spPr>
        <p:txBody>
          <a:bodyPr/>
          <a:lstStyle/>
          <a:p>
            <a:r>
              <a:rPr lang="en-IN" sz="2400" b="1" dirty="0">
                <a:latin typeface="Times New Roman" panose="02020603050405020304" pitchFamily="18" charset="0"/>
                <a:cs typeface="Times New Roman" panose="02020603050405020304" pitchFamily="18" charset="0"/>
              </a:rPr>
              <a:t>Project Goal :</a:t>
            </a:r>
          </a:p>
          <a:p>
            <a:pPr lvl="1"/>
            <a:r>
              <a:rPr lang="en-US" dirty="0">
                <a:latin typeface="Times New Roman" panose="02020603050405020304" pitchFamily="18" charset="0"/>
                <a:cs typeface="Times New Roman" panose="02020603050405020304" pitchFamily="18" charset="0"/>
              </a:rPr>
              <a:t>The project's main goal is to </a:t>
            </a:r>
            <a:r>
              <a:rPr lang="en-US" b="1" dirty="0">
                <a:latin typeface="Times New Roman" panose="02020603050405020304" pitchFamily="18" charset="0"/>
                <a:cs typeface="Times New Roman" panose="02020603050405020304" pitchFamily="18" charset="0"/>
              </a:rPr>
              <a:t>design and analyze a relational database for a library</a:t>
            </a:r>
            <a:r>
              <a:rPr lang="en-US" dirty="0">
                <a:latin typeface="Times New Roman" panose="02020603050405020304" pitchFamily="18" charset="0"/>
                <a:cs typeface="Times New Roman" panose="02020603050405020304" pitchFamily="18" charset="0"/>
              </a:rPr>
              <a:t>. This involves using SQL to structure the data, ensure its integrity, and answer key business questions.</a:t>
            </a:r>
            <a:endParaRPr lang="en-IN"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Key Objectives:</a:t>
            </a:r>
          </a:p>
          <a:p>
            <a:pPr lvl="1"/>
            <a:r>
              <a:rPr lang="en-US" sz="2000" b="1" dirty="0">
                <a:latin typeface="Times New Roman" panose="02020603050405020304" pitchFamily="18" charset="0"/>
                <a:cs typeface="Times New Roman" panose="02020603050405020304" pitchFamily="18" charset="0"/>
              </a:rPr>
              <a:t>Database Design: </a:t>
            </a:r>
            <a:r>
              <a:rPr lang="en-US" dirty="0">
                <a:latin typeface="Times New Roman" panose="02020603050405020304" pitchFamily="18" charset="0"/>
                <a:cs typeface="Times New Roman" panose="02020603050405020304" pitchFamily="18" charset="0"/>
              </a:rPr>
              <a:t>Create a logical database schema by defining tables, columns, and relationships.</a:t>
            </a:r>
          </a:p>
          <a:p>
            <a:pPr lvl="1"/>
            <a:r>
              <a:rPr lang="en-US" sz="2000" b="1" dirty="0">
                <a:latin typeface="Times New Roman" panose="02020603050405020304" pitchFamily="18" charset="0"/>
                <a:cs typeface="Times New Roman" panose="02020603050405020304" pitchFamily="18" charset="0"/>
              </a:rPr>
              <a:t>Data Integrity: </a:t>
            </a:r>
            <a:r>
              <a:rPr lang="en-US" dirty="0">
                <a:latin typeface="Times New Roman" panose="02020603050405020304" pitchFamily="18" charset="0"/>
                <a:cs typeface="Times New Roman" panose="02020603050405020304" pitchFamily="18" charset="0"/>
              </a:rPr>
              <a:t>Use primary and foreign keys to enforce relationships and ensure data consistency.</a:t>
            </a:r>
          </a:p>
          <a:p>
            <a:pPr lvl="1"/>
            <a:r>
              <a:rPr lang="en-US" sz="2000" b="1" dirty="0">
                <a:latin typeface="Times New Roman" panose="02020603050405020304" pitchFamily="18" charset="0"/>
                <a:cs typeface="Times New Roman" panose="02020603050405020304" pitchFamily="18" charset="0"/>
              </a:rPr>
              <a:t>SQL Querying: </a:t>
            </a:r>
            <a:r>
              <a:rPr lang="en-US" dirty="0">
                <a:latin typeface="Times New Roman" panose="02020603050405020304" pitchFamily="18" charset="0"/>
                <a:cs typeface="Times New Roman" panose="02020603050405020304" pitchFamily="18" charset="0"/>
              </a:rPr>
              <a:t>Write complex queries to retrieve meaningful information, such as book availability and borrower activity.</a:t>
            </a:r>
          </a:p>
          <a:p>
            <a:pPr lvl="1"/>
            <a:r>
              <a:rPr lang="en-US" sz="2000" b="1" dirty="0">
                <a:latin typeface="Times New Roman" panose="02020603050405020304" pitchFamily="18" charset="0"/>
                <a:cs typeface="Times New Roman" panose="02020603050405020304" pitchFamily="18" charset="0"/>
              </a:rPr>
              <a:t>Problem-Solving:</a:t>
            </a:r>
            <a:r>
              <a:rPr lang="en-US" dirty="0">
                <a:latin typeface="Times New Roman" panose="02020603050405020304" pitchFamily="18" charset="0"/>
                <a:cs typeface="Times New Roman" panose="02020603050405020304" pitchFamily="18" charset="0"/>
              </a:rPr>
              <a:t> Translate real-world business questions into effective SQL queries to provide actionable insights.</a:t>
            </a:r>
            <a:endParaRPr lang="en-IN"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3937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8C3AA-2625-8B0B-692C-E5BD3D00E578}"/>
              </a:ext>
            </a:extLst>
          </p:cNvPr>
          <p:cNvSpPr>
            <a:spLocks noGrp="1"/>
          </p:cNvSpPr>
          <p:nvPr>
            <p:ph type="title"/>
          </p:nvPr>
        </p:nvSpPr>
        <p:spPr>
          <a:xfrm>
            <a:off x="646111" y="452718"/>
            <a:ext cx="9384009" cy="593657"/>
          </a:xfrm>
        </p:spPr>
        <p:txBody>
          <a:bodyPr/>
          <a:lstStyle/>
          <a:p>
            <a:r>
              <a:rPr lang="en-IN" sz="3200" b="1" dirty="0">
                <a:latin typeface="Times New Roman" panose="02020603050405020304" pitchFamily="18" charset="0"/>
                <a:cs typeface="Times New Roman" panose="02020603050405020304" pitchFamily="18" charset="0"/>
              </a:rPr>
              <a:t>ER Diagram and schema explanation</a:t>
            </a:r>
            <a:br>
              <a:rPr lang="en-IN" sz="4400" dirty="0"/>
            </a:br>
            <a:endParaRPr lang="en-IN" dirty="0"/>
          </a:p>
        </p:txBody>
      </p:sp>
      <p:pic>
        <p:nvPicPr>
          <p:cNvPr id="8" name="Content Placeholder 7">
            <a:extLst>
              <a:ext uri="{FF2B5EF4-FFF2-40B4-BE49-F238E27FC236}">
                <a16:creationId xmlns:a16="http://schemas.microsoft.com/office/drawing/2014/main" id="{5CD8132E-9A8C-2EE4-7F59-F72CCD86419B}"/>
              </a:ext>
            </a:extLst>
          </p:cNvPr>
          <p:cNvPicPr>
            <a:picLocks noGrp="1" noChangeAspect="1"/>
          </p:cNvPicPr>
          <p:nvPr>
            <p:ph idx="1"/>
          </p:nvPr>
        </p:nvPicPr>
        <p:blipFill>
          <a:blip r:embed="rId2"/>
          <a:stretch>
            <a:fillRect/>
          </a:stretch>
        </p:blipFill>
        <p:spPr>
          <a:xfrm>
            <a:off x="1953891" y="1185444"/>
            <a:ext cx="6907305" cy="5526755"/>
          </a:xfrm>
          <a:prstGeom prst="rect">
            <a:avLst/>
          </a:prstGeom>
        </p:spPr>
      </p:pic>
    </p:spTree>
    <p:extLst>
      <p:ext uri="{BB962C8B-B14F-4D97-AF65-F5344CB8AC3E}">
        <p14:creationId xmlns:p14="http://schemas.microsoft.com/office/powerpoint/2010/main" val="3715348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21861-1400-29E5-1BC2-196971BB4830}"/>
              </a:ext>
            </a:extLst>
          </p:cNvPr>
          <p:cNvSpPr>
            <a:spLocks noGrp="1"/>
          </p:cNvSpPr>
          <p:nvPr>
            <p:ph type="title"/>
          </p:nvPr>
        </p:nvSpPr>
        <p:spPr>
          <a:xfrm>
            <a:off x="646111" y="452718"/>
            <a:ext cx="9506557" cy="753913"/>
          </a:xfrm>
        </p:spPr>
        <p:txBody>
          <a:bodyPr/>
          <a:lstStyle/>
          <a:p>
            <a:r>
              <a:rPr lang="en-IN" sz="3200" b="1" dirty="0">
                <a:latin typeface="Times New Roman" panose="02020603050405020304" pitchFamily="18" charset="0"/>
                <a:cs typeface="Times New Roman" panose="02020603050405020304" pitchFamily="18" charset="0"/>
              </a:rPr>
              <a:t>SCHEMA EXPLAINATION</a:t>
            </a:r>
          </a:p>
        </p:txBody>
      </p:sp>
      <p:sp>
        <p:nvSpPr>
          <p:cNvPr id="3" name="Content Placeholder 2">
            <a:extLst>
              <a:ext uri="{FF2B5EF4-FFF2-40B4-BE49-F238E27FC236}">
                <a16:creationId xmlns:a16="http://schemas.microsoft.com/office/drawing/2014/main" id="{9DFEFE19-B689-9993-C727-E6D0E44D536D}"/>
              </a:ext>
            </a:extLst>
          </p:cNvPr>
          <p:cNvSpPr>
            <a:spLocks noGrp="1"/>
          </p:cNvSpPr>
          <p:nvPr>
            <p:ph idx="1"/>
          </p:nvPr>
        </p:nvSpPr>
        <p:spPr>
          <a:xfrm>
            <a:off x="646111" y="1640264"/>
            <a:ext cx="10477517" cy="4619134"/>
          </a:xfrm>
        </p:spPr>
        <p:txBody>
          <a:bodyPr/>
          <a:lstStyle/>
          <a:p>
            <a:r>
              <a:rPr lang="en-US" dirty="0">
                <a:latin typeface="Times New Roman" panose="02020603050405020304" pitchFamily="18" charset="0"/>
                <a:cs typeface="Times New Roman" panose="02020603050405020304" pitchFamily="18" charset="0"/>
              </a:rPr>
              <a:t>This schema models a library management system, tracking books, authors, branches, borrowers, loans, publishers, and copies.</a:t>
            </a:r>
          </a:p>
          <a:p>
            <a:pPr marL="0" indent="0">
              <a:buNone/>
            </a:pP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Key Entities:</a:t>
            </a:r>
          </a:p>
          <a:p>
            <a:pPr lvl="1"/>
            <a:r>
              <a:rPr lang="en-US" b="1" dirty="0" err="1">
                <a:latin typeface="Times New Roman" panose="02020603050405020304" pitchFamily="18" charset="0"/>
                <a:cs typeface="Times New Roman" panose="02020603050405020304" pitchFamily="18" charset="0"/>
              </a:rPr>
              <a:t>tbl_book</a:t>
            </a:r>
            <a:r>
              <a:rPr lang="en-US" dirty="0">
                <a:latin typeface="Times New Roman" panose="02020603050405020304" pitchFamily="18" charset="0"/>
                <a:cs typeface="Times New Roman" panose="02020603050405020304" pitchFamily="18" charset="0"/>
              </a:rPr>
              <a:t>: Stores book details (</a:t>
            </a:r>
            <a:r>
              <a:rPr lang="en-US" dirty="0" err="1">
                <a:latin typeface="Times New Roman" panose="02020603050405020304" pitchFamily="18" charset="0"/>
                <a:cs typeface="Times New Roman" panose="02020603050405020304" pitchFamily="18" charset="0"/>
              </a:rPr>
              <a:t>BookID</a:t>
            </a:r>
            <a:r>
              <a:rPr lang="en-US" dirty="0">
                <a:latin typeface="Times New Roman" panose="02020603050405020304" pitchFamily="18" charset="0"/>
                <a:cs typeface="Times New Roman" panose="02020603050405020304" pitchFamily="18" charset="0"/>
              </a:rPr>
              <a:t>, Title, </a:t>
            </a:r>
            <a:r>
              <a:rPr lang="en-US" dirty="0" err="1">
                <a:latin typeface="Times New Roman" panose="02020603050405020304" pitchFamily="18" charset="0"/>
                <a:cs typeface="Times New Roman" panose="02020603050405020304" pitchFamily="18" charset="0"/>
              </a:rPr>
              <a:t>PublisherName</a:t>
            </a:r>
            <a:r>
              <a:rPr lang="en-US"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tbl_book_authors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Links books to their authors. </a:t>
            </a:r>
          </a:p>
          <a:p>
            <a:pPr lvl="1"/>
            <a:r>
              <a:rPr lang="en-US" b="1" dirty="0" err="1">
                <a:latin typeface="Times New Roman" panose="02020603050405020304" pitchFamily="18" charset="0"/>
                <a:cs typeface="Times New Roman" panose="02020603050405020304" pitchFamily="18" charset="0"/>
              </a:rPr>
              <a:t>tbl_publisher</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Contains publisher contact information. </a:t>
            </a:r>
          </a:p>
          <a:p>
            <a:pPr lvl="1"/>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tbl_library_branch</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Lists all library branches. </a:t>
            </a:r>
          </a:p>
          <a:p>
            <a:pPr lvl="1"/>
            <a:r>
              <a:rPr lang="en-US" b="1" dirty="0" err="1">
                <a:latin typeface="Times New Roman" panose="02020603050405020304" pitchFamily="18" charset="0"/>
                <a:cs typeface="Times New Roman" panose="02020603050405020304" pitchFamily="18" charset="0"/>
              </a:rPr>
              <a:t>tbl_borrower</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Stores borrower details such as name and contact.</a:t>
            </a:r>
          </a:p>
          <a:p>
            <a:pPr lvl="1"/>
            <a:r>
              <a:rPr lang="en-US" b="1" dirty="0" err="1">
                <a:latin typeface="Times New Roman" panose="02020603050405020304" pitchFamily="18" charset="0"/>
                <a:cs typeface="Times New Roman" panose="02020603050405020304" pitchFamily="18" charset="0"/>
              </a:rPr>
              <a:t>tbl_book_copies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Tracks the number of copies of each book in each branch. </a:t>
            </a:r>
          </a:p>
          <a:p>
            <a:pPr lvl="1"/>
            <a:r>
              <a:rPr lang="en-US" b="1" dirty="0" err="1">
                <a:latin typeface="Times New Roman" panose="02020603050405020304" pitchFamily="18" charset="0"/>
                <a:cs typeface="Times New Roman" panose="02020603050405020304" pitchFamily="18" charset="0"/>
              </a:rPr>
              <a:t>tbl_book_loans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Records when a borrower loans a book from a specific branch.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8832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C6B62-652B-2ADE-BD27-947AEE44C115}"/>
              </a:ext>
            </a:extLst>
          </p:cNvPr>
          <p:cNvSpPr>
            <a:spLocks noGrp="1"/>
          </p:cNvSpPr>
          <p:nvPr>
            <p:ph type="title"/>
          </p:nvPr>
        </p:nvSpPr>
        <p:spPr>
          <a:xfrm>
            <a:off x="646111" y="452718"/>
            <a:ext cx="9647959" cy="716206"/>
          </a:xfrm>
        </p:spPr>
        <p:txBody>
          <a:bodyPr/>
          <a:lstStyle/>
          <a:p>
            <a:r>
              <a:rPr lang="en-IN" sz="3200" b="1" dirty="0">
                <a:latin typeface="Times New Roman" panose="02020603050405020304" pitchFamily="18" charset="0"/>
                <a:cs typeface="Times New Roman" panose="02020603050405020304" pitchFamily="18" charset="0"/>
              </a:rPr>
              <a:t>RELATIONSHIPS AND DATAFLOW</a:t>
            </a:r>
          </a:p>
        </p:txBody>
      </p:sp>
      <p:sp>
        <p:nvSpPr>
          <p:cNvPr id="3" name="Content Placeholder 2">
            <a:extLst>
              <a:ext uri="{FF2B5EF4-FFF2-40B4-BE49-F238E27FC236}">
                <a16:creationId xmlns:a16="http://schemas.microsoft.com/office/drawing/2014/main" id="{A3281DB3-C7E2-2BDE-B3E9-3C01F33C83B4}"/>
              </a:ext>
            </a:extLst>
          </p:cNvPr>
          <p:cNvSpPr>
            <a:spLocks noGrp="1"/>
          </p:cNvSpPr>
          <p:nvPr>
            <p:ph idx="1"/>
          </p:nvPr>
        </p:nvSpPr>
        <p:spPr>
          <a:xfrm>
            <a:off x="646111" y="1168924"/>
            <a:ext cx="10618919" cy="5062195"/>
          </a:xfrm>
        </p:spPr>
        <p:txBody>
          <a:bodyPr/>
          <a:lstStyle/>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Relationships:</a:t>
            </a:r>
          </a:p>
          <a:p>
            <a:pPr lvl="1"/>
            <a:r>
              <a:rPr lang="en-US" b="1" dirty="0">
                <a:latin typeface="Times New Roman" panose="02020603050405020304" pitchFamily="18" charset="0"/>
                <a:cs typeface="Times New Roman" panose="02020603050405020304" pitchFamily="18" charset="0"/>
              </a:rPr>
              <a:t>Book–Publisher: </a:t>
            </a:r>
            <a:r>
              <a:rPr lang="en-US" dirty="0">
                <a:latin typeface="Times New Roman" panose="02020603050405020304" pitchFamily="18" charset="0"/>
                <a:cs typeface="Times New Roman" panose="02020603050405020304" pitchFamily="18" charset="0"/>
              </a:rPr>
              <a:t>Each book is published by one publisher.</a:t>
            </a:r>
          </a:p>
          <a:p>
            <a:pPr lvl="1"/>
            <a:r>
              <a:rPr lang="en-US" b="1" dirty="0">
                <a:latin typeface="Times New Roman" panose="02020603050405020304" pitchFamily="18" charset="0"/>
                <a:cs typeface="Times New Roman" panose="02020603050405020304" pitchFamily="18" charset="0"/>
              </a:rPr>
              <a:t> Book–Author: </a:t>
            </a:r>
            <a:r>
              <a:rPr lang="en-US" dirty="0">
                <a:latin typeface="Times New Roman" panose="02020603050405020304" pitchFamily="18" charset="0"/>
                <a:cs typeface="Times New Roman" panose="02020603050405020304" pitchFamily="18" charset="0"/>
              </a:rPr>
              <a:t>A book can have multiple authors (many-to-one via </a:t>
            </a:r>
            <a:r>
              <a:rPr lang="en-US" dirty="0" err="1">
                <a:latin typeface="Times New Roman" panose="02020603050405020304" pitchFamily="18" charset="0"/>
                <a:cs typeface="Times New Roman" panose="02020603050405020304" pitchFamily="18" charset="0"/>
              </a:rPr>
              <a:t>tbl_book_authors</a:t>
            </a:r>
            <a:r>
              <a:rPr lang="en-US" dirty="0">
                <a:latin typeface="Times New Roman" panose="02020603050405020304" pitchFamily="18" charset="0"/>
                <a:cs typeface="Times New Roman" panose="02020603050405020304" pitchFamily="18" charset="0"/>
              </a:rPr>
              <a:t>). </a:t>
            </a:r>
          </a:p>
          <a:p>
            <a:pPr lvl="1"/>
            <a:r>
              <a:rPr lang="en-US" b="1" dirty="0">
                <a:latin typeface="Times New Roman" panose="02020603050405020304" pitchFamily="18" charset="0"/>
                <a:cs typeface="Times New Roman" panose="02020603050405020304" pitchFamily="18" charset="0"/>
              </a:rPr>
              <a:t>Book–Branch: </a:t>
            </a:r>
            <a:r>
              <a:rPr lang="en-US" dirty="0" err="1">
                <a:latin typeface="Times New Roman" panose="02020603050405020304" pitchFamily="18" charset="0"/>
                <a:cs typeface="Times New Roman" panose="02020603050405020304" pitchFamily="18" charset="0"/>
              </a:rPr>
              <a:t>tbl_book_copies</a:t>
            </a:r>
            <a:r>
              <a:rPr lang="en-US" dirty="0">
                <a:latin typeface="Times New Roman" panose="02020603050405020304" pitchFamily="18" charset="0"/>
                <a:cs typeface="Times New Roman" panose="02020603050405020304" pitchFamily="18" charset="0"/>
              </a:rPr>
              <a:t> links books to branches with quantity. </a:t>
            </a:r>
          </a:p>
          <a:p>
            <a:pPr lvl="1"/>
            <a:r>
              <a:rPr lang="en-US" b="1" dirty="0">
                <a:latin typeface="Times New Roman" panose="02020603050405020304" pitchFamily="18" charset="0"/>
                <a:cs typeface="Times New Roman" panose="02020603050405020304" pitchFamily="18" charset="0"/>
              </a:rPr>
              <a:t>Borrower–Loan: </a:t>
            </a:r>
            <a:r>
              <a:rPr lang="en-US" dirty="0">
                <a:latin typeface="Times New Roman" panose="02020603050405020304" pitchFamily="18" charset="0"/>
                <a:cs typeface="Times New Roman" panose="02020603050405020304" pitchFamily="18" charset="0"/>
              </a:rPr>
              <a:t>Borrowers loan books via </a:t>
            </a:r>
            <a:r>
              <a:rPr lang="en-US" dirty="0" err="1">
                <a:latin typeface="Times New Roman" panose="02020603050405020304" pitchFamily="18" charset="0"/>
                <a:cs typeface="Times New Roman" panose="02020603050405020304" pitchFamily="18" charset="0"/>
              </a:rPr>
              <a:t>tbl_book_loans</a:t>
            </a:r>
            <a:r>
              <a:rPr lang="en-US" dirty="0">
                <a:latin typeface="Times New Roman" panose="02020603050405020304" pitchFamily="18" charset="0"/>
                <a:cs typeface="Times New Roman" panose="02020603050405020304" pitchFamily="18" charset="0"/>
              </a:rPr>
              <a:t>. </a:t>
            </a:r>
          </a:p>
          <a:p>
            <a:pPr lvl="1"/>
            <a:r>
              <a:rPr lang="en-US" b="1" dirty="0">
                <a:latin typeface="Times New Roman" panose="02020603050405020304" pitchFamily="18" charset="0"/>
                <a:cs typeface="Times New Roman" panose="02020603050405020304" pitchFamily="18" charset="0"/>
              </a:rPr>
              <a:t>Loan–Book/Branch:</a:t>
            </a:r>
            <a:r>
              <a:rPr lang="en-US" dirty="0">
                <a:latin typeface="Times New Roman" panose="02020603050405020304" pitchFamily="18" charset="0"/>
                <a:cs typeface="Times New Roman" panose="02020603050405020304" pitchFamily="18" charset="0"/>
              </a:rPr>
              <a:t> Each loan references a book and the branch it's borrowed from.</a:t>
            </a:r>
          </a:p>
          <a:p>
            <a:pPr marL="457200" lvl="1" indent="0">
              <a:buNone/>
            </a:pP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Data Flow Example:</a:t>
            </a:r>
          </a:p>
          <a:p>
            <a:pPr lvl="1"/>
            <a:r>
              <a:rPr lang="en-US" dirty="0">
                <a:latin typeface="Times New Roman" panose="02020603050405020304" pitchFamily="18" charset="0"/>
                <a:cs typeface="Times New Roman" panose="02020603050405020304" pitchFamily="18" charset="0"/>
              </a:rPr>
              <a:t>Borrower → Loans Book (from Branch) → Book Copy → Book Info → Author &amp; Publisher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42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CB9F-52C5-3963-184B-95557FEF2FCB}"/>
              </a:ext>
            </a:extLst>
          </p:cNvPr>
          <p:cNvSpPr>
            <a:spLocks noGrp="1"/>
          </p:cNvSpPr>
          <p:nvPr>
            <p:ph type="title"/>
          </p:nvPr>
        </p:nvSpPr>
        <p:spPr>
          <a:xfrm>
            <a:off x="646111" y="386730"/>
            <a:ext cx="9336875" cy="838754"/>
          </a:xfrm>
        </p:spPr>
        <p:txBody>
          <a:bodyPr/>
          <a:lstStyle/>
          <a:p>
            <a:r>
              <a:rPr lang="en-US" sz="3200" b="1" dirty="0">
                <a:latin typeface="Times New Roman" panose="02020603050405020304" pitchFamily="18" charset="0"/>
                <a:cs typeface="Times New Roman" panose="02020603050405020304" pitchFamily="18" charset="0"/>
              </a:rPr>
              <a:t>Book Copies at Sharpstown Branch</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C332F45-8DAA-2282-B8D3-AC8B51284552}"/>
              </a:ext>
            </a:extLst>
          </p:cNvPr>
          <p:cNvSpPr>
            <a:spLocks noGrp="1"/>
          </p:cNvSpPr>
          <p:nvPr>
            <p:ph idx="1"/>
          </p:nvPr>
        </p:nvSpPr>
        <p:spPr>
          <a:xfrm>
            <a:off x="768659" y="1225484"/>
            <a:ext cx="10439811" cy="5392132"/>
          </a:xfrm>
        </p:spPr>
        <p:txBody>
          <a:bodyPr/>
          <a:lstStyle/>
          <a:p>
            <a:r>
              <a:rPr lang="en-US" sz="1800" b="1" dirty="0">
                <a:latin typeface="Times New Roman" panose="02020603050405020304" pitchFamily="18" charset="0"/>
                <a:cs typeface="Times New Roman" panose="02020603050405020304" pitchFamily="18" charset="0"/>
              </a:rPr>
              <a:t>Objective: </a:t>
            </a:r>
            <a:r>
              <a:rPr lang="en-US" sz="1800" dirty="0">
                <a:latin typeface="Times New Roman" panose="02020603050405020304" pitchFamily="18" charset="0"/>
                <a:cs typeface="Times New Roman" panose="02020603050405020304" pitchFamily="18" charset="0"/>
              </a:rPr>
              <a:t>Find how many copies of </a:t>
            </a:r>
            <a:r>
              <a:rPr lang="en-US" sz="1800" b="1" dirty="0">
                <a:latin typeface="Times New Roman" panose="02020603050405020304" pitchFamily="18" charset="0"/>
                <a:cs typeface="Times New Roman" panose="02020603050405020304" pitchFamily="18" charset="0"/>
              </a:rPr>
              <a:t>The Lost Tribe </a:t>
            </a:r>
            <a:r>
              <a:rPr lang="en-US" sz="1800" dirty="0">
                <a:latin typeface="Times New Roman" panose="02020603050405020304" pitchFamily="18" charset="0"/>
                <a:cs typeface="Times New Roman" panose="02020603050405020304" pitchFamily="18" charset="0"/>
              </a:rPr>
              <a:t>are available at the </a:t>
            </a:r>
            <a:r>
              <a:rPr lang="en-US" sz="1800" b="1" dirty="0">
                <a:latin typeface="Times New Roman" panose="02020603050405020304" pitchFamily="18" charset="0"/>
                <a:cs typeface="Times New Roman" panose="02020603050405020304" pitchFamily="18" charset="0"/>
              </a:rPr>
              <a:t>Sharpstown branch</a:t>
            </a:r>
            <a:r>
              <a:rPr lang="en-US" sz="1800" dirty="0">
                <a:latin typeface="Times New Roman" panose="02020603050405020304" pitchFamily="18" charset="0"/>
                <a:cs typeface="Times New Roman" panose="02020603050405020304" pitchFamily="18" charset="0"/>
              </a:rPr>
              <a:t>.</a:t>
            </a:r>
          </a:p>
          <a:p>
            <a:r>
              <a:rPr lang="en-US" sz="1800" b="1" dirty="0">
                <a:latin typeface="Times New Roman" panose="02020603050405020304" pitchFamily="18" charset="0"/>
                <a:cs typeface="Times New Roman" panose="02020603050405020304" pitchFamily="18" charset="0"/>
              </a:rPr>
              <a:t>Method: </a:t>
            </a:r>
            <a:r>
              <a:rPr lang="en-US" sz="1800" dirty="0">
                <a:latin typeface="Times New Roman" panose="02020603050405020304" pitchFamily="18" charset="0"/>
                <a:cs typeface="Times New Roman" panose="02020603050405020304" pitchFamily="18" charset="0"/>
              </a:rPr>
              <a:t>Used SQL JOIN queries to link </a:t>
            </a:r>
            <a:r>
              <a:rPr lang="en-US" sz="1800" b="1" dirty="0">
                <a:latin typeface="Times New Roman" panose="02020603050405020304" pitchFamily="18" charset="0"/>
                <a:cs typeface="Times New Roman" panose="02020603050405020304" pitchFamily="18" charset="0"/>
              </a:rPr>
              <a:t>Books</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Book Copies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Library Branch</a:t>
            </a:r>
            <a:r>
              <a:rPr lang="en-US" sz="1800" dirty="0">
                <a:latin typeface="Times New Roman" panose="02020603050405020304" pitchFamily="18" charset="0"/>
                <a:cs typeface="Times New Roman" panose="02020603050405020304" pitchFamily="18" charset="0"/>
              </a:rPr>
              <a:t> tables.</a:t>
            </a:r>
          </a:p>
          <a:p>
            <a:r>
              <a:rPr lang="en-IN" sz="1800" dirty="0">
                <a:latin typeface="Times New Roman" panose="02020603050405020304" pitchFamily="18" charset="0"/>
                <a:cs typeface="Times New Roman" panose="02020603050405020304" pitchFamily="18" charset="0"/>
              </a:rPr>
              <a:t>Condition: Filtered records where</a:t>
            </a:r>
          </a:p>
          <a:p>
            <a:pPr lvl="1"/>
            <a:r>
              <a:rPr lang="en-US" dirty="0" err="1">
                <a:latin typeface="Times New Roman" panose="02020603050405020304" pitchFamily="18" charset="0"/>
                <a:cs typeface="Times New Roman" panose="02020603050405020304" pitchFamily="18" charset="0"/>
              </a:rPr>
              <a:t>book_Title</a:t>
            </a:r>
            <a:r>
              <a:rPr lang="en-US" dirty="0">
                <a:latin typeface="Times New Roman" panose="02020603050405020304" pitchFamily="18" charset="0"/>
                <a:cs typeface="Times New Roman" panose="02020603050405020304" pitchFamily="18" charset="0"/>
              </a:rPr>
              <a:t> = 'The Lost Tribe’</a:t>
            </a:r>
          </a:p>
          <a:p>
            <a:pPr lvl="1"/>
            <a:r>
              <a:rPr lang="en-IN" dirty="0" err="1">
                <a:latin typeface="Times New Roman" panose="02020603050405020304" pitchFamily="18" charset="0"/>
                <a:cs typeface="Times New Roman" panose="02020603050405020304" pitchFamily="18" charset="0"/>
              </a:rPr>
              <a:t>library_branch_BranchName</a:t>
            </a:r>
            <a:r>
              <a:rPr lang="en-IN" dirty="0">
                <a:latin typeface="Times New Roman" panose="02020603050405020304" pitchFamily="18" charset="0"/>
                <a:cs typeface="Times New Roman" panose="02020603050405020304" pitchFamily="18" charset="0"/>
              </a:rPr>
              <a:t> = 'Sharpstown'.</a:t>
            </a:r>
          </a:p>
          <a:p>
            <a:r>
              <a:rPr lang="en-US" b="1" dirty="0">
                <a:latin typeface="Times New Roman" panose="02020603050405020304" pitchFamily="18" charset="0"/>
                <a:cs typeface="Times New Roman" panose="02020603050405020304" pitchFamily="18" charset="0"/>
              </a:rPr>
              <a:t>Copies of "The Lost Tribe" in Sharpstown: </a:t>
            </a:r>
            <a:r>
              <a:rPr lang="en-US" sz="1800" dirty="0">
                <a:latin typeface="Times New Roman" panose="02020603050405020304" pitchFamily="18" charset="0"/>
                <a:cs typeface="Times New Roman" panose="02020603050405020304" pitchFamily="18" charset="0"/>
              </a:rPr>
              <a:t>Shows how many copies of the book titled "The Lost Tribe" are available specifically in the Sharpstown branch.</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8C611AD-1CA9-8CA0-8D62-56E21545627D}"/>
              </a:ext>
            </a:extLst>
          </p:cNvPr>
          <p:cNvPicPr>
            <a:picLocks noChangeAspect="1"/>
          </p:cNvPicPr>
          <p:nvPr/>
        </p:nvPicPr>
        <p:blipFill>
          <a:blip r:embed="rId2"/>
          <a:stretch>
            <a:fillRect/>
          </a:stretch>
        </p:blipFill>
        <p:spPr>
          <a:xfrm>
            <a:off x="1387706" y="3971754"/>
            <a:ext cx="8980186" cy="1580634"/>
          </a:xfrm>
          <a:prstGeom prst="rect">
            <a:avLst/>
          </a:prstGeom>
        </p:spPr>
      </p:pic>
      <p:pic>
        <p:nvPicPr>
          <p:cNvPr id="5" name="Picture 4">
            <a:extLst>
              <a:ext uri="{FF2B5EF4-FFF2-40B4-BE49-F238E27FC236}">
                <a16:creationId xmlns:a16="http://schemas.microsoft.com/office/drawing/2014/main" id="{D75FAAE8-1B78-7962-C207-2EABFB8C0E8F}"/>
              </a:ext>
            </a:extLst>
          </p:cNvPr>
          <p:cNvPicPr>
            <a:picLocks noChangeAspect="1"/>
          </p:cNvPicPr>
          <p:nvPr/>
        </p:nvPicPr>
        <p:blipFill>
          <a:blip r:embed="rId3"/>
          <a:stretch>
            <a:fillRect/>
          </a:stretch>
        </p:blipFill>
        <p:spPr>
          <a:xfrm>
            <a:off x="2564336" y="5757103"/>
            <a:ext cx="6626926" cy="634039"/>
          </a:xfrm>
          <a:prstGeom prst="rect">
            <a:avLst/>
          </a:prstGeom>
        </p:spPr>
      </p:pic>
    </p:spTree>
    <p:extLst>
      <p:ext uri="{BB962C8B-B14F-4D97-AF65-F5344CB8AC3E}">
        <p14:creationId xmlns:p14="http://schemas.microsoft.com/office/powerpoint/2010/main" val="2313874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F6BD1-BCCC-175B-83F4-BF2609D333EF}"/>
              </a:ext>
            </a:extLst>
          </p:cNvPr>
          <p:cNvSpPr>
            <a:spLocks noGrp="1"/>
          </p:cNvSpPr>
          <p:nvPr>
            <p:ph type="title"/>
          </p:nvPr>
        </p:nvSpPr>
        <p:spPr>
          <a:xfrm>
            <a:off x="646111" y="452718"/>
            <a:ext cx="9223753" cy="753913"/>
          </a:xfrm>
        </p:spPr>
        <p:txBody>
          <a:bodyPr/>
          <a:lstStyle/>
          <a:p>
            <a:r>
              <a:rPr lang="en-US" sz="3200" b="1" dirty="0">
                <a:latin typeface="Times New Roman" panose="02020603050405020304" pitchFamily="18" charset="0"/>
                <a:cs typeface="Times New Roman" panose="02020603050405020304" pitchFamily="18" charset="0"/>
              </a:rPr>
              <a:t>Copies of "The Lost Tribe" in Each Branch</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866ADA-22EF-3B50-38E5-A71426C39D0C}"/>
              </a:ext>
            </a:extLst>
          </p:cNvPr>
          <p:cNvSpPr>
            <a:spLocks noGrp="1"/>
          </p:cNvSpPr>
          <p:nvPr>
            <p:ph idx="1"/>
          </p:nvPr>
        </p:nvSpPr>
        <p:spPr>
          <a:xfrm>
            <a:off x="646111" y="1468456"/>
            <a:ext cx="10628347" cy="4936826"/>
          </a:xfrm>
        </p:spPr>
        <p:txBody>
          <a:bodyPr/>
          <a:lstStyle/>
          <a:p>
            <a:r>
              <a:rPr lang="en-US" sz="1800" b="1" dirty="0">
                <a:latin typeface="Times New Roman" panose="02020603050405020304" pitchFamily="18" charset="0"/>
                <a:cs typeface="Times New Roman" panose="02020603050405020304" pitchFamily="18" charset="0"/>
              </a:rPr>
              <a:t>Objective:</a:t>
            </a:r>
            <a:r>
              <a:rPr lang="en-US" sz="1800" dirty="0">
                <a:latin typeface="Times New Roman" panose="02020603050405020304" pitchFamily="18" charset="0"/>
                <a:cs typeface="Times New Roman" panose="02020603050405020304" pitchFamily="18" charset="0"/>
              </a:rPr>
              <a:t> How many copies of the book titled "The Lost Tribe" are owned by each library branch?</a:t>
            </a:r>
          </a:p>
          <a:p>
            <a:r>
              <a:rPr lang="en-IN" sz="1800" b="1" dirty="0">
                <a:latin typeface="Times New Roman" panose="02020603050405020304" pitchFamily="18" charset="0"/>
                <a:cs typeface="Times New Roman" panose="02020603050405020304" pitchFamily="18" charset="0"/>
              </a:rPr>
              <a:t>Method:</a:t>
            </a:r>
          </a:p>
          <a:p>
            <a:pPr lvl="1"/>
            <a:r>
              <a:rPr lang="en-US" dirty="0">
                <a:latin typeface="Times New Roman" panose="02020603050405020304" pitchFamily="18" charset="0"/>
                <a:cs typeface="Times New Roman" panose="02020603050405020304" pitchFamily="18" charset="0"/>
              </a:rPr>
              <a:t>Joined </a:t>
            </a:r>
            <a:r>
              <a:rPr lang="en-US" b="1" dirty="0">
                <a:latin typeface="Times New Roman" panose="02020603050405020304" pitchFamily="18" charset="0"/>
                <a:cs typeface="Times New Roman" panose="02020603050405020304" pitchFamily="18" charset="0"/>
              </a:rPr>
              <a:t>Books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Book Copies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Library Branch</a:t>
            </a:r>
            <a:r>
              <a:rPr lang="en-US" dirty="0">
                <a:latin typeface="Times New Roman" panose="02020603050405020304" pitchFamily="18" charset="0"/>
                <a:cs typeface="Times New Roman" panose="02020603050405020304" pitchFamily="18" charset="0"/>
              </a:rPr>
              <a:t> tables.</a:t>
            </a:r>
          </a:p>
          <a:p>
            <a:pPr lvl="1"/>
            <a:r>
              <a:rPr lang="en-US" dirty="0">
                <a:latin typeface="Times New Roman" panose="02020603050405020304" pitchFamily="18" charset="0"/>
                <a:cs typeface="Times New Roman" panose="02020603050405020304" pitchFamily="18" charset="0"/>
              </a:rPr>
              <a:t>Filtered for </a:t>
            </a:r>
            <a:r>
              <a:rPr lang="en-US" dirty="0" err="1">
                <a:latin typeface="Times New Roman" panose="02020603050405020304" pitchFamily="18" charset="0"/>
                <a:cs typeface="Times New Roman" panose="02020603050405020304" pitchFamily="18" charset="0"/>
              </a:rPr>
              <a:t>book_Title</a:t>
            </a:r>
            <a:r>
              <a:rPr lang="en-US" dirty="0">
                <a:latin typeface="Times New Roman" panose="02020603050405020304" pitchFamily="18" charset="0"/>
                <a:cs typeface="Times New Roman" panose="02020603050405020304" pitchFamily="18" charset="0"/>
              </a:rPr>
              <a:t> = 'The Lost Tribe'.</a:t>
            </a:r>
            <a:endParaRPr lang="en-IN"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Insight:</a:t>
            </a:r>
            <a:r>
              <a:rPr lang="en-US" sz="1800" dirty="0">
                <a:latin typeface="Times New Roman" panose="02020603050405020304" pitchFamily="18" charset="0"/>
                <a:cs typeface="Times New Roman" panose="02020603050405020304" pitchFamily="18" charset="0"/>
              </a:rPr>
              <a:t> The book The Lost Tribe is evenly distributed, with </a:t>
            </a:r>
            <a:r>
              <a:rPr lang="en-US" sz="1800" b="1" dirty="0">
                <a:latin typeface="Times New Roman" panose="02020603050405020304" pitchFamily="18" charset="0"/>
                <a:cs typeface="Times New Roman" panose="02020603050405020304" pitchFamily="18" charset="0"/>
              </a:rPr>
              <a:t>5 copies in each branch</a:t>
            </a:r>
            <a:r>
              <a:rPr lang="en-US" sz="1800" dirty="0">
                <a:latin typeface="Times New Roman" panose="02020603050405020304" pitchFamily="18" charset="0"/>
                <a:cs typeface="Times New Roman" panose="02020603050405020304" pitchFamily="18" charset="0"/>
              </a:rPr>
              <a:t>, ensuring equal availability across the library system.</a:t>
            </a:r>
          </a:p>
        </p:txBody>
      </p:sp>
      <p:pic>
        <p:nvPicPr>
          <p:cNvPr id="4" name="Picture 3">
            <a:extLst>
              <a:ext uri="{FF2B5EF4-FFF2-40B4-BE49-F238E27FC236}">
                <a16:creationId xmlns:a16="http://schemas.microsoft.com/office/drawing/2014/main" id="{5934EE9D-014F-88B8-9A1E-9A8436AEC775}"/>
              </a:ext>
            </a:extLst>
          </p:cNvPr>
          <p:cNvPicPr>
            <a:picLocks noChangeAspect="1"/>
          </p:cNvPicPr>
          <p:nvPr/>
        </p:nvPicPr>
        <p:blipFill>
          <a:blip r:embed="rId2"/>
          <a:stretch>
            <a:fillRect/>
          </a:stretch>
        </p:blipFill>
        <p:spPr>
          <a:xfrm>
            <a:off x="646111" y="4215419"/>
            <a:ext cx="6401197" cy="2039034"/>
          </a:xfrm>
          <a:prstGeom prst="rect">
            <a:avLst/>
          </a:prstGeom>
        </p:spPr>
      </p:pic>
      <p:pic>
        <p:nvPicPr>
          <p:cNvPr id="5" name="Picture 4">
            <a:extLst>
              <a:ext uri="{FF2B5EF4-FFF2-40B4-BE49-F238E27FC236}">
                <a16:creationId xmlns:a16="http://schemas.microsoft.com/office/drawing/2014/main" id="{AE828A2E-9FD1-A373-68B7-B831EF9E7DD0}"/>
              </a:ext>
            </a:extLst>
          </p:cNvPr>
          <p:cNvPicPr>
            <a:picLocks noChangeAspect="1"/>
          </p:cNvPicPr>
          <p:nvPr/>
        </p:nvPicPr>
        <p:blipFill>
          <a:blip r:embed="rId3"/>
          <a:stretch>
            <a:fillRect/>
          </a:stretch>
        </p:blipFill>
        <p:spPr>
          <a:xfrm>
            <a:off x="7297719" y="4456350"/>
            <a:ext cx="4685521" cy="1557173"/>
          </a:xfrm>
          <a:prstGeom prst="rect">
            <a:avLst/>
          </a:prstGeom>
        </p:spPr>
      </p:pic>
    </p:spTree>
    <p:extLst>
      <p:ext uri="{BB962C8B-B14F-4D97-AF65-F5344CB8AC3E}">
        <p14:creationId xmlns:p14="http://schemas.microsoft.com/office/powerpoint/2010/main" val="1389648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2C101-8937-FBE3-5249-931A8DF6B0BF}"/>
              </a:ext>
            </a:extLst>
          </p:cNvPr>
          <p:cNvSpPr>
            <a:spLocks noGrp="1"/>
          </p:cNvSpPr>
          <p:nvPr>
            <p:ph type="title"/>
          </p:nvPr>
        </p:nvSpPr>
        <p:spPr>
          <a:xfrm>
            <a:off x="646112" y="452718"/>
            <a:ext cx="9308594" cy="603084"/>
          </a:xfrm>
        </p:spPr>
        <p:txBody>
          <a:bodyPr/>
          <a:lstStyle/>
          <a:p>
            <a:r>
              <a:rPr lang="en-US" sz="3200" b="1" dirty="0">
                <a:latin typeface="Times New Roman" panose="02020603050405020304" pitchFamily="18" charset="0"/>
                <a:cs typeface="Times New Roman" panose="02020603050405020304" pitchFamily="18" charset="0"/>
              </a:rPr>
              <a:t>Borrowers with No Books Checked Out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8CE4F6-2398-C3C8-9333-D0DA2852EB1B}"/>
              </a:ext>
            </a:extLst>
          </p:cNvPr>
          <p:cNvSpPr>
            <a:spLocks noGrp="1"/>
          </p:cNvSpPr>
          <p:nvPr>
            <p:ph idx="1"/>
          </p:nvPr>
        </p:nvSpPr>
        <p:spPr>
          <a:xfrm>
            <a:off x="741259" y="1331259"/>
            <a:ext cx="10533199" cy="5074023"/>
          </a:xfrm>
        </p:spPr>
        <p:txBody>
          <a:bodyPr>
            <a:normAutofit/>
          </a:bodyPr>
          <a:lstStyle/>
          <a:p>
            <a:r>
              <a:rPr lang="en-US" sz="1800" b="1" dirty="0">
                <a:latin typeface="Times New Roman" panose="02020603050405020304" pitchFamily="18" charset="0"/>
                <a:cs typeface="Times New Roman" panose="02020603050405020304" pitchFamily="18" charset="0"/>
              </a:rPr>
              <a:t>Objective:</a:t>
            </a:r>
            <a:r>
              <a:rPr lang="en-US" sz="1800" dirty="0">
                <a:latin typeface="Times New Roman" panose="02020603050405020304" pitchFamily="18" charset="0"/>
                <a:cs typeface="Times New Roman" panose="02020603050405020304" pitchFamily="18" charset="0"/>
              </a:rPr>
              <a:t> Retrieve the names of all borrowers who do not have any books checked out.</a:t>
            </a:r>
          </a:p>
          <a:p>
            <a:r>
              <a:rPr lang="en-IN" sz="1800" dirty="0">
                <a:latin typeface="Times New Roman" panose="02020603050405020304" pitchFamily="18" charset="0"/>
                <a:cs typeface="Times New Roman" panose="02020603050405020304" pitchFamily="18" charset="0"/>
              </a:rPr>
              <a:t>Method:</a:t>
            </a:r>
          </a:p>
          <a:p>
            <a:pPr lvl="1"/>
            <a:r>
              <a:rPr lang="en-IN" dirty="0">
                <a:latin typeface="Times New Roman" panose="02020603050405020304" pitchFamily="18" charset="0"/>
                <a:cs typeface="Times New Roman" panose="02020603050405020304" pitchFamily="18" charset="0"/>
              </a:rPr>
              <a:t>Queried the </a:t>
            </a:r>
            <a:r>
              <a:rPr lang="en-IN" b="1" dirty="0">
                <a:latin typeface="Times New Roman" panose="02020603050405020304" pitchFamily="18" charset="0"/>
                <a:cs typeface="Times New Roman" panose="02020603050405020304" pitchFamily="18" charset="0"/>
              </a:rPr>
              <a:t>Borrower</a:t>
            </a:r>
            <a:r>
              <a:rPr lang="en-IN" dirty="0">
                <a:latin typeface="Times New Roman" panose="02020603050405020304" pitchFamily="18" charset="0"/>
                <a:cs typeface="Times New Roman" panose="02020603050405020304" pitchFamily="18" charset="0"/>
              </a:rPr>
              <a:t> table.</a:t>
            </a:r>
          </a:p>
          <a:p>
            <a:pPr lvl="1"/>
            <a:r>
              <a:rPr lang="en-US" dirty="0">
                <a:latin typeface="Times New Roman" panose="02020603050405020304" pitchFamily="18" charset="0"/>
                <a:cs typeface="Times New Roman" panose="02020603050405020304" pitchFamily="18" charset="0"/>
              </a:rPr>
              <a:t>Used a NOT EXISTS subquery to check if the borrower’s </a:t>
            </a:r>
            <a:r>
              <a:rPr lang="en-US" dirty="0" err="1">
                <a:latin typeface="Times New Roman" panose="02020603050405020304" pitchFamily="18" charset="0"/>
                <a:cs typeface="Times New Roman" panose="02020603050405020304" pitchFamily="18" charset="0"/>
              </a:rPr>
              <a:t>CardNo</a:t>
            </a:r>
            <a:r>
              <a:rPr lang="en-US" dirty="0">
                <a:latin typeface="Times New Roman" panose="02020603050405020304" pitchFamily="18" charset="0"/>
                <a:cs typeface="Times New Roman" panose="02020603050405020304" pitchFamily="18" charset="0"/>
              </a:rPr>
              <a:t> is </a:t>
            </a:r>
            <a:r>
              <a:rPr lang="en-US" b="1" dirty="0">
                <a:latin typeface="Times New Roman" panose="02020603050405020304" pitchFamily="18" charset="0"/>
                <a:cs typeface="Times New Roman" panose="02020603050405020304" pitchFamily="18" charset="0"/>
              </a:rPr>
              <a:t>absent</a:t>
            </a:r>
            <a:r>
              <a:rPr lang="en-US" dirty="0">
                <a:latin typeface="Times New Roman" panose="02020603050405020304" pitchFamily="18" charset="0"/>
                <a:cs typeface="Times New Roman" panose="02020603050405020304" pitchFamily="18" charset="0"/>
              </a:rPr>
              <a:t> in the </a:t>
            </a:r>
            <a:r>
              <a:rPr lang="en-US" b="1" dirty="0">
                <a:latin typeface="Times New Roman" panose="02020603050405020304" pitchFamily="18" charset="0"/>
                <a:cs typeface="Times New Roman" panose="02020603050405020304" pitchFamily="18" charset="0"/>
              </a:rPr>
              <a:t>Book Loans</a:t>
            </a:r>
            <a:r>
              <a:rPr lang="en-US" dirty="0">
                <a:latin typeface="Times New Roman" panose="02020603050405020304" pitchFamily="18" charset="0"/>
                <a:cs typeface="Times New Roman" panose="02020603050405020304" pitchFamily="18" charset="0"/>
              </a:rPr>
              <a:t> table.</a:t>
            </a:r>
            <a:endParaRPr lang="en-IN"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Insight:</a:t>
            </a:r>
            <a:r>
              <a:rPr lang="en-US" sz="1800" dirty="0">
                <a:latin typeface="Times New Roman" panose="02020603050405020304" pitchFamily="18" charset="0"/>
                <a:cs typeface="Times New Roman" panose="02020603050405020304" pitchFamily="18" charset="0"/>
              </a:rPr>
              <a:t> Identifying inactive borrowers helps the library understand user engagement levels and design strategies (like reminders or reading programs) to encourage more borrowing.</a:t>
            </a:r>
            <a:endParaRPr lang="en-IN"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AFB295D-8671-FE1A-5048-7C91F6B60588}"/>
              </a:ext>
            </a:extLst>
          </p:cNvPr>
          <p:cNvPicPr>
            <a:picLocks noChangeAspect="1"/>
          </p:cNvPicPr>
          <p:nvPr/>
        </p:nvPicPr>
        <p:blipFill>
          <a:blip r:embed="rId2"/>
          <a:stretch>
            <a:fillRect/>
          </a:stretch>
        </p:blipFill>
        <p:spPr>
          <a:xfrm>
            <a:off x="8923524" y="5779536"/>
            <a:ext cx="2920237" cy="823031"/>
          </a:xfrm>
          <a:prstGeom prst="rect">
            <a:avLst/>
          </a:prstGeom>
        </p:spPr>
      </p:pic>
      <p:pic>
        <p:nvPicPr>
          <p:cNvPr id="8" name="Picture 7">
            <a:extLst>
              <a:ext uri="{FF2B5EF4-FFF2-40B4-BE49-F238E27FC236}">
                <a16:creationId xmlns:a16="http://schemas.microsoft.com/office/drawing/2014/main" id="{7F3DDF51-974C-C622-30AB-EE29B41BFDAD}"/>
              </a:ext>
            </a:extLst>
          </p:cNvPr>
          <p:cNvPicPr>
            <a:picLocks noChangeAspect="1"/>
          </p:cNvPicPr>
          <p:nvPr/>
        </p:nvPicPr>
        <p:blipFill>
          <a:blip r:embed="rId3"/>
          <a:stretch>
            <a:fillRect/>
          </a:stretch>
        </p:blipFill>
        <p:spPr>
          <a:xfrm>
            <a:off x="917542" y="3841573"/>
            <a:ext cx="9873842" cy="1740678"/>
          </a:xfrm>
          <a:prstGeom prst="rect">
            <a:avLst/>
          </a:prstGeom>
        </p:spPr>
      </p:pic>
    </p:spTree>
    <p:extLst>
      <p:ext uri="{BB962C8B-B14F-4D97-AF65-F5344CB8AC3E}">
        <p14:creationId xmlns:p14="http://schemas.microsoft.com/office/powerpoint/2010/main" val="421204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D2685-0A20-7064-9D74-E35D157DDC82}"/>
              </a:ext>
            </a:extLst>
          </p:cNvPr>
          <p:cNvSpPr>
            <a:spLocks noGrp="1"/>
          </p:cNvSpPr>
          <p:nvPr>
            <p:ph type="title"/>
          </p:nvPr>
        </p:nvSpPr>
        <p:spPr>
          <a:xfrm>
            <a:off x="646112" y="424322"/>
            <a:ext cx="9327448" cy="687925"/>
          </a:xfrm>
        </p:spPr>
        <p:txBody>
          <a:bodyPr/>
          <a:lstStyle/>
          <a:p>
            <a:r>
              <a:rPr lang="en-US" sz="3200" b="1" dirty="0">
                <a:latin typeface="Times New Roman" panose="02020603050405020304" pitchFamily="18" charset="0"/>
                <a:cs typeface="Times New Roman" panose="02020603050405020304" pitchFamily="18" charset="0"/>
              </a:rPr>
              <a:t>Loans from Sharpstown Branch (Due: 2/3/18)</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06A2D9-4452-BF35-5F6F-B6E849E94BEE}"/>
              </a:ext>
            </a:extLst>
          </p:cNvPr>
          <p:cNvSpPr>
            <a:spLocks noGrp="1"/>
          </p:cNvSpPr>
          <p:nvPr>
            <p:ph idx="1"/>
          </p:nvPr>
        </p:nvSpPr>
        <p:spPr>
          <a:xfrm>
            <a:off x="646112" y="1112247"/>
            <a:ext cx="11307076" cy="5646772"/>
          </a:xfrm>
        </p:spPr>
        <p:txBody>
          <a:bodyPr/>
          <a:lstStyle/>
          <a:p>
            <a:r>
              <a:rPr lang="en-US" sz="1800" b="1" dirty="0">
                <a:latin typeface="Times New Roman" panose="02020603050405020304" pitchFamily="18" charset="0"/>
                <a:cs typeface="Times New Roman" panose="02020603050405020304" pitchFamily="18" charset="0"/>
              </a:rPr>
              <a:t>Objective:</a:t>
            </a:r>
            <a:r>
              <a:rPr lang="en-US" sz="1800" dirty="0">
                <a:latin typeface="Times New Roman" panose="02020603050405020304" pitchFamily="18" charset="0"/>
                <a:cs typeface="Times New Roman" panose="02020603050405020304" pitchFamily="18" charset="0"/>
              </a:rPr>
              <a:t> For each book that is loaned out from the "Sharpstown" branch and whose </a:t>
            </a:r>
            <a:r>
              <a:rPr lang="en-US" sz="1800" dirty="0" err="1">
                <a:latin typeface="Times New Roman" panose="02020603050405020304" pitchFamily="18" charset="0"/>
                <a:cs typeface="Times New Roman" panose="02020603050405020304" pitchFamily="18" charset="0"/>
              </a:rPr>
              <a:t>DueDate</a:t>
            </a:r>
            <a:r>
              <a:rPr lang="en-US" sz="1800" dirty="0">
                <a:latin typeface="Times New Roman" panose="02020603050405020304" pitchFamily="18" charset="0"/>
                <a:cs typeface="Times New Roman" panose="02020603050405020304" pitchFamily="18" charset="0"/>
              </a:rPr>
              <a:t> is 2/3/18, retrieve the book title, the borrower's name, and the borrower's address.</a:t>
            </a:r>
          </a:p>
          <a:p>
            <a:r>
              <a:rPr lang="en-IN" sz="1800" b="1" dirty="0">
                <a:latin typeface="Times New Roman" panose="02020603050405020304" pitchFamily="18" charset="0"/>
                <a:cs typeface="Times New Roman" panose="02020603050405020304" pitchFamily="18" charset="0"/>
              </a:rPr>
              <a:t>Method:</a:t>
            </a:r>
          </a:p>
          <a:p>
            <a:pPr lvl="1"/>
            <a:r>
              <a:rPr lang="en-US" dirty="0">
                <a:latin typeface="Times New Roman" panose="02020603050405020304" pitchFamily="18" charset="0"/>
                <a:cs typeface="Times New Roman" panose="02020603050405020304" pitchFamily="18" charset="0"/>
              </a:rPr>
              <a:t>Joined </a:t>
            </a:r>
            <a:r>
              <a:rPr lang="en-US" b="1" dirty="0">
                <a:latin typeface="Times New Roman" panose="02020603050405020304" pitchFamily="18" charset="0"/>
                <a:cs typeface="Times New Roman" panose="02020603050405020304" pitchFamily="18" charset="0"/>
              </a:rPr>
              <a:t>Book Loans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Books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Borrowers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Library Branch</a:t>
            </a:r>
            <a:r>
              <a:rPr lang="en-US" dirty="0">
                <a:latin typeface="Times New Roman" panose="02020603050405020304" pitchFamily="18" charset="0"/>
                <a:cs typeface="Times New Roman" panose="02020603050405020304" pitchFamily="18" charset="0"/>
              </a:rPr>
              <a:t> tables.</a:t>
            </a:r>
          </a:p>
          <a:p>
            <a:pPr lvl="1"/>
            <a:r>
              <a:rPr lang="en-IN" dirty="0">
                <a:latin typeface="Times New Roman" panose="02020603050405020304" pitchFamily="18" charset="0"/>
                <a:cs typeface="Times New Roman" panose="02020603050405020304" pitchFamily="18" charset="0"/>
              </a:rPr>
              <a:t>Applied conditions:</a:t>
            </a:r>
          </a:p>
          <a:p>
            <a:pPr lvl="2"/>
            <a:r>
              <a:rPr lang="en-IN" sz="1800" dirty="0" err="1">
                <a:latin typeface="Times New Roman" panose="02020603050405020304" pitchFamily="18" charset="0"/>
                <a:cs typeface="Times New Roman" panose="02020603050405020304" pitchFamily="18" charset="0"/>
              </a:rPr>
              <a:t>library_branch_BranchName</a:t>
            </a:r>
            <a:r>
              <a:rPr lang="en-IN" sz="1800" dirty="0">
                <a:latin typeface="Times New Roman" panose="02020603050405020304" pitchFamily="18" charset="0"/>
                <a:cs typeface="Times New Roman" panose="02020603050405020304" pitchFamily="18" charset="0"/>
              </a:rPr>
              <a:t> = 'Sharpstown’</a:t>
            </a:r>
          </a:p>
          <a:p>
            <a:pPr lvl="2"/>
            <a:r>
              <a:rPr lang="en-IN" sz="1800" dirty="0" err="1">
                <a:latin typeface="Times New Roman" panose="02020603050405020304" pitchFamily="18" charset="0"/>
                <a:cs typeface="Times New Roman" panose="02020603050405020304" pitchFamily="18" charset="0"/>
              </a:rPr>
              <a:t>book_loans_DueDate</a:t>
            </a:r>
            <a:r>
              <a:rPr lang="en-IN" sz="1800" dirty="0">
                <a:latin typeface="Times New Roman" panose="02020603050405020304" pitchFamily="18" charset="0"/>
                <a:cs typeface="Times New Roman" panose="02020603050405020304" pitchFamily="18" charset="0"/>
              </a:rPr>
              <a:t> = '2018-02-03'</a:t>
            </a:r>
          </a:p>
          <a:p>
            <a:r>
              <a:rPr lang="en-US" sz="1800" b="1" dirty="0">
                <a:latin typeface="Times New Roman" panose="02020603050405020304" pitchFamily="18" charset="0"/>
                <a:cs typeface="Times New Roman" panose="02020603050405020304" pitchFamily="18" charset="0"/>
              </a:rPr>
              <a:t>Insight:</a:t>
            </a:r>
            <a:r>
              <a:rPr lang="en-US" sz="1800" dirty="0">
                <a:latin typeface="Times New Roman" panose="02020603050405020304" pitchFamily="18" charset="0"/>
                <a:cs typeface="Times New Roman" panose="02020603050405020304" pitchFamily="18" charset="0"/>
              </a:rPr>
              <a:t> This query helps track </a:t>
            </a:r>
            <a:r>
              <a:rPr lang="en-US" sz="1800" b="1" dirty="0">
                <a:latin typeface="Times New Roman" panose="02020603050405020304" pitchFamily="18" charset="0"/>
                <a:cs typeface="Times New Roman" panose="02020603050405020304" pitchFamily="18" charset="0"/>
              </a:rPr>
              <a:t>who borrowed which book</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where to send reminders/notices</a:t>
            </a:r>
            <a:r>
              <a:rPr lang="en-US" sz="1800" dirty="0">
                <a:latin typeface="Times New Roman" panose="02020603050405020304" pitchFamily="18" charset="0"/>
                <a:cs typeface="Times New Roman" panose="02020603050405020304" pitchFamily="18" charset="0"/>
              </a:rPr>
              <a:t> when the book’s due date arrives.</a:t>
            </a:r>
          </a:p>
          <a:p>
            <a:r>
              <a:rPr lang="en-US" sz="1800" b="1" dirty="0">
                <a:latin typeface="Times New Roman" panose="02020603050405020304" pitchFamily="18" charset="0"/>
                <a:cs typeface="Times New Roman" panose="02020603050405020304" pitchFamily="18" charset="0"/>
              </a:rPr>
              <a:t>Books Loaned from Sharpstown Due on 2018-02-03: </a:t>
            </a:r>
            <a:r>
              <a:rPr lang="en-US" sz="1800" dirty="0">
                <a:latin typeface="Times New Roman" panose="02020603050405020304" pitchFamily="18" charset="0"/>
                <a:cs typeface="Times New Roman" panose="02020603050405020304" pitchFamily="18" charset="0"/>
              </a:rPr>
              <a:t>Lists all books that were checked out from the Sharpstown branch and are scheduled to be returned on February 3, 2018.</a:t>
            </a:r>
            <a:endParaRPr lang="en-IN"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BB62A51-37D6-17BC-4368-3D7C211CE865}"/>
              </a:ext>
            </a:extLst>
          </p:cNvPr>
          <p:cNvPicPr>
            <a:picLocks noChangeAspect="1"/>
          </p:cNvPicPr>
          <p:nvPr/>
        </p:nvPicPr>
        <p:blipFill>
          <a:blip r:embed="rId2"/>
          <a:stretch>
            <a:fillRect/>
          </a:stretch>
        </p:blipFill>
        <p:spPr>
          <a:xfrm>
            <a:off x="646112" y="5160169"/>
            <a:ext cx="5123092" cy="1598850"/>
          </a:xfrm>
          <a:prstGeom prst="rect">
            <a:avLst/>
          </a:prstGeom>
        </p:spPr>
      </p:pic>
      <p:pic>
        <p:nvPicPr>
          <p:cNvPr id="7" name="Picture 6">
            <a:extLst>
              <a:ext uri="{FF2B5EF4-FFF2-40B4-BE49-F238E27FC236}">
                <a16:creationId xmlns:a16="http://schemas.microsoft.com/office/drawing/2014/main" id="{D8AC4A7E-2E73-2D30-8A3F-A1440938D5F3}"/>
              </a:ext>
            </a:extLst>
          </p:cNvPr>
          <p:cNvPicPr>
            <a:picLocks noChangeAspect="1"/>
          </p:cNvPicPr>
          <p:nvPr/>
        </p:nvPicPr>
        <p:blipFill>
          <a:blip r:embed="rId3"/>
          <a:stretch>
            <a:fillRect/>
          </a:stretch>
        </p:blipFill>
        <p:spPr>
          <a:xfrm>
            <a:off x="6111136" y="5359086"/>
            <a:ext cx="5842052" cy="1201016"/>
          </a:xfrm>
          <a:prstGeom prst="rect">
            <a:avLst/>
          </a:prstGeom>
        </p:spPr>
      </p:pic>
    </p:spTree>
    <p:extLst>
      <p:ext uri="{BB962C8B-B14F-4D97-AF65-F5344CB8AC3E}">
        <p14:creationId xmlns:p14="http://schemas.microsoft.com/office/powerpoint/2010/main" val="230129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7780C-F673-5364-FFAA-84F2A3617516}"/>
              </a:ext>
            </a:extLst>
          </p:cNvPr>
          <p:cNvSpPr>
            <a:spLocks noGrp="1"/>
          </p:cNvSpPr>
          <p:nvPr>
            <p:ph type="title"/>
          </p:nvPr>
        </p:nvSpPr>
        <p:spPr>
          <a:xfrm>
            <a:off x="646111" y="452718"/>
            <a:ext cx="9318021" cy="640791"/>
          </a:xfrm>
        </p:spPr>
        <p:txBody>
          <a:bodyPr/>
          <a:lstStyle/>
          <a:p>
            <a:r>
              <a:rPr lang="en-US" sz="3200" b="1" dirty="0">
                <a:latin typeface="Times New Roman" panose="02020603050405020304" pitchFamily="18" charset="0"/>
                <a:cs typeface="Times New Roman" panose="02020603050405020304" pitchFamily="18" charset="0"/>
              </a:rPr>
              <a:t>Total Books Loaned by Each Branch</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B16D4BD-03E0-F90A-18EC-FDC506CF41C1}"/>
              </a:ext>
            </a:extLst>
          </p:cNvPr>
          <p:cNvSpPr>
            <a:spLocks noGrp="1"/>
          </p:cNvSpPr>
          <p:nvPr>
            <p:ph idx="1"/>
          </p:nvPr>
        </p:nvSpPr>
        <p:spPr>
          <a:xfrm>
            <a:off x="716812" y="1206631"/>
            <a:ext cx="10255987" cy="5198651"/>
          </a:xfrm>
        </p:spPr>
        <p:txBody>
          <a:bodyPr>
            <a:normAutofit/>
          </a:bodyPr>
          <a:lstStyle/>
          <a:p>
            <a:r>
              <a:rPr lang="en-US" sz="1800" b="1" dirty="0">
                <a:latin typeface="Times New Roman" panose="02020603050405020304" pitchFamily="18" charset="0"/>
                <a:cs typeface="Times New Roman" panose="02020603050405020304" pitchFamily="18" charset="0"/>
              </a:rPr>
              <a:t>Objective:</a:t>
            </a:r>
            <a:r>
              <a:rPr lang="en-US" sz="1800" dirty="0">
                <a:latin typeface="Times New Roman" panose="02020603050405020304" pitchFamily="18" charset="0"/>
                <a:cs typeface="Times New Roman" panose="02020603050405020304" pitchFamily="18" charset="0"/>
              </a:rPr>
              <a:t> For each library branch, retrieve the branch name and the total number of books loaned out from that branch.</a:t>
            </a:r>
          </a:p>
          <a:p>
            <a:r>
              <a:rPr lang="en-IN" sz="1800" dirty="0">
                <a:latin typeface="Times New Roman" panose="02020603050405020304" pitchFamily="18" charset="0"/>
                <a:cs typeface="Times New Roman" panose="02020603050405020304" pitchFamily="18" charset="0"/>
              </a:rPr>
              <a:t>Method:</a:t>
            </a:r>
          </a:p>
          <a:p>
            <a:pPr lvl="1"/>
            <a:r>
              <a:rPr lang="en-US" dirty="0">
                <a:latin typeface="Times New Roman" panose="02020603050405020304" pitchFamily="18" charset="0"/>
                <a:cs typeface="Times New Roman" panose="02020603050405020304" pitchFamily="18" charset="0"/>
              </a:rPr>
              <a:t>Joined </a:t>
            </a:r>
            <a:r>
              <a:rPr lang="en-US" b="1" dirty="0">
                <a:latin typeface="Times New Roman" panose="02020603050405020304" pitchFamily="18" charset="0"/>
                <a:cs typeface="Times New Roman" panose="02020603050405020304" pitchFamily="18" charset="0"/>
              </a:rPr>
              <a:t>Book Loans</a:t>
            </a:r>
            <a:r>
              <a:rPr lang="en-US" dirty="0">
                <a:latin typeface="Times New Roman" panose="02020603050405020304" pitchFamily="18" charset="0"/>
                <a:cs typeface="Times New Roman" panose="02020603050405020304" pitchFamily="18" charset="0"/>
              </a:rPr>
              <a:t> with </a:t>
            </a:r>
            <a:r>
              <a:rPr lang="en-US" b="1" dirty="0">
                <a:latin typeface="Times New Roman" panose="02020603050405020304" pitchFamily="18" charset="0"/>
                <a:cs typeface="Times New Roman" panose="02020603050405020304" pitchFamily="18" charset="0"/>
              </a:rPr>
              <a:t>Library Branch</a:t>
            </a:r>
            <a:r>
              <a:rPr lang="en-US" dirty="0">
                <a:latin typeface="Times New Roman" panose="02020603050405020304" pitchFamily="18" charset="0"/>
                <a:cs typeface="Times New Roman" panose="02020603050405020304" pitchFamily="18" charset="0"/>
              </a:rPr>
              <a:t> table.</a:t>
            </a:r>
          </a:p>
          <a:p>
            <a:pPr lvl="1"/>
            <a:r>
              <a:rPr lang="en-US" dirty="0">
                <a:latin typeface="Times New Roman" panose="02020603050405020304" pitchFamily="18" charset="0"/>
                <a:cs typeface="Times New Roman" panose="02020603050405020304" pitchFamily="18" charset="0"/>
              </a:rPr>
              <a:t>Used COUNT(*) to calculate the </a:t>
            </a:r>
            <a:r>
              <a:rPr lang="en-US" b="1" dirty="0">
                <a:latin typeface="Times New Roman" panose="02020603050405020304" pitchFamily="18" charset="0"/>
                <a:cs typeface="Times New Roman" panose="02020603050405020304" pitchFamily="18" charset="0"/>
              </a:rPr>
              <a:t>total number of loans</a:t>
            </a:r>
            <a:r>
              <a:rPr lang="en-US" dirty="0">
                <a:latin typeface="Times New Roman" panose="02020603050405020304" pitchFamily="18" charset="0"/>
                <a:cs typeface="Times New Roman" panose="02020603050405020304" pitchFamily="18" charset="0"/>
              </a:rPr>
              <a:t> per branch.</a:t>
            </a:r>
          </a:p>
          <a:p>
            <a:pPr lvl="1"/>
            <a:r>
              <a:rPr lang="en-US" dirty="0">
                <a:latin typeface="Times New Roman" panose="02020603050405020304" pitchFamily="18" charset="0"/>
                <a:cs typeface="Times New Roman" panose="02020603050405020304" pitchFamily="18" charset="0"/>
              </a:rPr>
              <a:t>Grouped results by </a:t>
            </a:r>
            <a:r>
              <a:rPr lang="en-US" dirty="0" err="1">
                <a:latin typeface="Times New Roman" panose="02020603050405020304" pitchFamily="18" charset="0"/>
                <a:cs typeface="Times New Roman" panose="02020603050405020304" pitchFamily="18" charset="0"/>
              </a:rPr>
              <a:t>library_branch_BranchName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Insight:</a:t>
            </a:r>
            <a:r>
              <a:rPr lang="en-US" sz="1800" dirty="0">
                <a:latin typeface="Times New Roman" panose="02020603050405020304" pitchFamily="18" charset="0"/>
                <a:cs typeface="Times New Roman" panose="02020603050405020304" pitchFamily="18" charset="0"/>
              </a:rPr>
              <a:t> This shows which branches are more active in lending, helping the library in resource allocation, staff planning, and understanding member demand per branch.</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D5169C3-997E-49D8-6641-B0EB575BB8F0}"/>
              </a:ext>
            </a:extLst>
          </p:cNvPr>
          <p:cNvPicPr>
            <a:picLocks noChangeAspect="1"/>
          </p:cNvPicPr>
          <p:nvPr/>
        </p:nvPicPr>
        <p:blipFill>
          <a:blip r:embed="rId2"/>
          <a:stretch>
            <a:fillRect/>
          </a:stretch>
        </p:blipFill>
        <p:spPr>
          <a:xfrm>
            <a:off x="802477" y="4443075"/>
            <a:ext cx="7881678" cy="1401543"/>
          </a:xfrm>
          <a:prstGeom prst="rect">
            <a:avLst/>
          </a:prstGeom>
        </p:spPr>
      </p:pic>
      <p:pic>
        <p:nvPicPr>
          <p:cNvPr id="5" name="Picture 4">
            <a:extLst>
              <a:ext uri="{FF2B5EF4-FFF2-40B4-BE49-F238E27FC236}">
                <a16:creationId xmlns:a16="http://schemas.microsoft.com/office/drawing/2014/main" id="{8C556B29-2CE0-B2B7-8DAC-D4ABAF850CCC}"/>
              </a:ext>
            </a:extLst>
          </p:cNvPr>
          <p:cNvPicPr>
            <a:picLocks noChangeAspect="1"/>
          </p:cNvPicPr>
          <p:nvPr/>
        </p:nvPicPr>
        <p:blipFill>
          <a:blip r:embed="rId3"/>
          <a:stretch>
            <a:fillRect/>
          </a:stretch>
        </p:blipFill>
        <p:spPr>
          <a:xfrm>
            <a:off x="8957533" y="4732256"/>
            <a:ext cx="2987299" cy="1401543"/>
          </a:xfrm>
          <a:prstGeom prst="rect">
            <a:avLst/>
          </a:prstGeom>
        </p:spPr>
      </p:pic>
    </p:spTree>
    <p:extLst>
      <p:ext uri="{BB962C8B-B14F-4D97-AF65-F5344CB8AC3E}">
        <p14:creationId xmlns:p14="http://schemas.microsoft.com/office/powerpoint/2010/main" val="2491941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8FF98-D2F5-4EBD-E851-1FCEC85998E6}"/>
              </a:ext>
            </a:extLst>
          </p:cNvPr>
          <p:cNvSpPr>
            <a:spLocks noGrp="1"/>
          </p:cNvSpPr>
          <p:nvPr>
            <p:ph type="title"/>
          </p:nvPr>
        </p:nvSpPr>
        <p:spPr>
          <a:xfrm>
            <a:off x="646112" y="452718"/>
            <a:ext cx="9403742" cy="697352"/>
          </a:xfrm>
        </p:spPr>
        <p:txBody>
          <a:bodyPr/>
          <a:lstStyle/>
          <a:p>
            <a:r>
              <a:rPr lang="en-US" sz="3200" b="1" dirty="0">
                <a:latin typeface="Times New Roman" panose="02020603050405020304" pitchFamily="18" charset="0"/>
                <a:cs typeface="Times New Roman" panose="02020603050405020304" pitchFamily="18" charset="0"/>
              </a:rPr>
              <a:t>Borrowers with More Than Five Books Checked Out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A50A5E0-A4A3-F984-9F6B-FBEA34E538EE}"/>
              </a:ext>
            </a:extLst>
          </p:cNvPr>
          <p:cNvSpPr>
            <a:spLocks noGrp="1"/>
          </p:cNvSpPr>
          <p:nvPr>
            <p:ph idx="1"/>
          </p:nvPr>
        </p:nvSpPr>
        <p:spPr>
          <a:xfrm>
            <a:off x="801654" y="1331259"/>
            <a:ext cx="10510511" cy="5361772"/>
          </a:xfrm>
        </p:spPr>
        <p:txBody>
          <a:bodyPr/>
          <a:lstStyle/>
          <a:p>
            <a:r>
              <a:rPr lang="en-US" sz="1800" b="1" dirty="0">
                <a:latin typeface="Times New Roman" panose="02020603050405020304" pitchFamily="18" charset="0"/>
                <a:cs typeface="Times New Roman" panose="02020603050405020304" pitchFamily="18" charset="0"/>
              </a:rPr>
              <a:t>Objective:</a:t>
            </a:r>
            <a:r>
              <a:rPr lang="en-US" sz="1800" dirty="0">
                <a:latin typeface="Times New Roman" panose="02020603050405020304" pitchFamily="18" charset="0"/>
                <a:cs typeface="Times New Roman" panose="02020603050405020304" pitchFamily="18" charset="0"/>
              </a:rPr>
              <a:t> Retrieve the names, addresses, and number of books currently checked out for all borrowers who have more than five books loaned.</a:t>
            </a:r>
          </a:p>
          <a:p>
            <a:r>
              <a:rPr lang="en-IN" sz="1800" b="1" dirty="0">
                <a:latin typeface="Times New Roman" panose="02020603050405020304" pitchFamily="18" charset="0"/>
                <a:cs typeface="Times New Roman" panose="02020603050405020304" pitchFamily="18" charset="0"/>
              </a:rPr>
              <a:t>Method:</a:t>
            </a:r>
          </a:p>
          <a:p>
            <a:pPr lvl="1"/>
            <a:r>
              <a:rPr lang="en-US" dirty="0">
                <a:latin typeface="Times New Roman" panose="02020603050405020304" pitchFamily="18" charset="0"/>
                <a:cs typeface="Times New Roman" panose="02020603050405020304" pitchFamily="18" charset="0"/>
              </a:rPr>
              <a:t>Joined </a:t>
            </a:r>
            <a:r>
              <a:rPr lang="en-US" b="1" dirty="0">
                <a:latin typeface="Times New Roman" panose="02020603050405020304" pitchFamily="18" charset="0"/>
                <a:cs typeface="Times New Roman" panose="02020603050405020304" pitchFamily="18" charset="0"/>
              </a:rPr>
              <a:t>Borrowers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tbl_borrower</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Book Loans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tbl_book_loans</a:t>
            </a:r>
            <a:r>
              <a:rPr lang="en-US" dirty="0">
                <a:latin typeface="Times New Roman" panose="02020603050405020304" pitchFamily="18" charset="0"/>
                <a:cs typeface="Times New Roman" panose="02020603050405020304" pitchFamily="18" charset="0"/>
              </a:rPr>
              <a:t>) tables using </a:t>
            </a:r>
            <a:r>
              <a:rPr lang="en-US" dirty="0" err="1">
                <a:latin typeface="Times New Roman" panose="02020603050405020304" pitchFamily="18" charset="0"/>
                <a:cs typeface="Times New Roman" panose="02020603050405020304" pitchFamily="18" charset="0"/>
              </a:rPr>
              <a:t>borrower_CardNo</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Counted the number of books each borrower has checked out using COUNT(</a:t>
            </a:r>
            <a:r>
              <a:rPr lang="en-US" dirty="0" err="1">
                <a:latin typeface="Times New Roman" panose="02020603050405020304" pitchFamily="18" charset="0"/>
                <a:cs typeface="Times New Roman" panose="02020603050405020304" pitchFamily="18" charset="0"/>
              </a:rPr>
              <a:t>book_loans_LoansID</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Insight:</a:t>
            </a:r>
            <a:r>
              <a:rPr lang="en-US" sz="1800" dirty="0">
                <a:latin typeface="Times New Roman" panose="02020603050405020304" pitchFamily="18" charset="0"/>
                <a:cs typeface="Times New Roman" panose="02020603050405020304" pitchFamily="18" charset="0"/>
              </a:rPr>
              <a:t> This query helps identify borrowers with high book usage, which can be used for monitoring frequent borrowers, sending reminders, or managing library resources efficiently.</a:t>
            </a:r>
          </a:p>
          <a:p>
            <a:endParaRPr lang="en-IN" dirty="0"/>
          </a:p>
        </p:txBody>
      </p:sp>
      <p:pic>
        <p:nvPicPr>
          <p:cNvPr id="4" name="Picture 3">
            <a:extLst>
              <a:ext uri="{FF2B5EF4-FFF2-40B4-BE49-F238E27FC236}">
                <a16:creationId xmlns:a16="http://schemas.microsoft.com/office/drawing/2014/main" id="{416BB3A3-F7AA-37C8-283E-1CBAF5917C97}"/>
              </a:ext>
            </a:extLst>
          </p:cNvPr>
          <p:cNvPicPr>
            <a:picLocks noChangeAspect="1"/>
          </p:cNvPicPr>
          <p:nvPr/>
        </p:nvPicPr>
        <p:blipFill>
          <a:blip r:embed="rId2"/>
          <a:stretch>
            <a:fillRect/>
          </a:stretch>
        </p:blipFill>
        <p:spPr>
          <a:xfrm>
            <a:off x="1795757" y="3968686"/>
            <a:ext cx="8366337" cy="1376866"/>
          </a:xfrm>
          <a:prstGeom prst="rect">
            <a:avLst/>
          </a:prstGeom>
        </p:spPr>
      </p:pic>
      <p:pic>
        <p:nvPicPr>
          <p:cNvPr id="5" name="Picture 4">
            <a:extLst>
              <a:ext uri="{FF2B5EF4-FFF2-40B4-BE49-F238E27FC236}">
                <a16:creationId xmlns:a16="http://schemas.microsoft.com/office/drawing/2014/main" id="{E29597D7-9877-2C1D-3E49-53E504C63F3F}"/>
              </a:ext>
            </a:extLst>
          </p:cNvPr>
          <p:cNvPicPr>
            <a:picLocks noChangeAspect="1"/>
          </p:cNvPicPr>
          <p:nvPr/>
        </p:nvPicPr>
        <p:blipFill>
          <a:blip r:embed="rId3"/>
          <a:stretch>
            <a:fillRect/>
          </a:stretch>
        </p:blipFill>
        <p:spPr>
          <a:xfrm>
            <a:off x="3240635" y="5526741"/>
            <a:ext cx="5281196" cy="1166290"/>
          </a:xfrm>
          <a:prstGeom prst="rect">
            <a:avLst/>
          </a:prstGeom>
        </p:spPr>
      </p:pic>
    </p:spTree>
    <p:extLst>
      <p:ext uri="{BB962C8B-B14F-4D97-AF65-F5344CB8AC3E}">
        <p14:creationId xmlns:p14="http://schemas.microsoft.com/office/powerpoint/2010/main" val="1353562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4953-57F2-EDA2-C25D-D27C65ED35BC}"/>
              </a:ext>
            </a:extLst>
          </p:cNvPr>
          <p:cNvSpPr>
            <a:spLocks noGrp="1"/>
          </p:cNvSpPr>
          <p:nvPr>
            <p:ph type="title"/>
          </p:nvPr>
        </p:nvSpPr>
        <p:spPr>
          <a:xfrm>
            <a:off x="609333" y="707241"/>
            <a:ext cx="9478277" cy="951876"/>
          </a:xfrm>
        </p:spPr>
        <p:txBody>
          <a:bodyPr/>
          <a:lstStyle/>
          <a:p>
            <a:r>
              <a:rPr lang="en-US" sz="3200" b="1" dirty="0">
                <a:latin typeface="Times New Roman" panose="02020603050405020304" pitchFamily="18" charset="0"/>
                <a:cs typeface="Times New Roman" panose="02020603050405020304" pitchFamily="18" charset="0"/>
              </a:rPr>
              <a:t>Final business insights and recommendations</a:t>
            </a:r>
            <a:br>
              <a:rPr lang="en-US" sz="4400" dirty="0"/>
            </a:br>
            <a:endParaRPr lang="en-IN" dirty="0"/>
          </a:p>
        </p:txBody>
      </p:sp>
      <p:sp>
        <p:nvSpPr>
          <p:cNvPr id="3" name="Content Placeholder 2">
            <a:extLst>
              <a:ext uri="{FF2B5EF4-FFF2-40B4-BE49-F238E27FC236}">
                <a16:creationId xmlns:a16="http://schemas.microsoft.com/office/drawing/2014/main" id="{8D040C45-11F5-419C-CC81-169428988150}"/>
              </a:ext>
            </a:extLst>
          </p:cNvPr>
          <p:cNvSpPr>
            <a:spLocks noGrp="1"/>
          </p:cNvSpPr>
          <p:nvPr>
            <p:ph idx="1"/>
          </p:nvPr>
        </p:nvSpPr>
        <p:spPr>
          <a:xfrm>
            <a:off x="646111" y="2062345"/>
            <a:ext cx="10383250" cy="3848261"/>
          </a:xfrm>
        </p:spPr>
        <p:txBody>
          <a:bodyPr>
            <a:normAutofit/>
          </a:bodyPr>
          <a:lstStyle/>
          <a:p>
            <a:r>
              <a:rPr lang="en-US" sz="2400" b="1" dirty="0">
                <a:latin typeface="Times New Roman" panose="02020603050405020304" pitchFamily="18" charset="0"/>
                <a:cs typeface="Times New Roman" panose="02020603050405020304" pitchFamily="18" charset="0"/>
              </a:rPr>
              <a:t>Optimize Book Availability </a:t>
            </a: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Add more copies of high-demand books and reallocate underused ones across branches.</a:t>
            </a:r>
          </a:p>
          <a:p>
            <a:r>
              <a:rPr lang="en-US" sz="2400" b="1" dirty="0">
                <a:latin typeface="Times New Roman" panose="02020603050405020304" pitchFamily="18" charset="0"/>
                <a:cs typeface="Times New Roman" panose="02020603050405020304" pitchFamily="18" charset="0"/>
              </a:rPr>
              <a:t>Boost Borrower Engagement </a:t>
            </a: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Reduce overdue loans with reminders/penalties and encourage inactive borrowers through campaigns</a:t>
            </a:r>
            <a:r>
              <a:rPr lang="en-US" dirty="0">
                <a:latin typeface="Times New Roman" panose="02020603050405020304" pitchFamily="18" charset="0"/>
                <a:cs typeface="Times New Roman" panose="02020603050405020304" pitchFamily="18" charset="0"/>
              </a:rPr>
              <a:t>.</a:t>
            </a:r>
          </a:p>
          <a:p>
            <a:r>
              <a:rPr lang="en-US" sz="2400" b="1" dirty="0">
                <a:latin typeface="Times New Roman" panose="02020603050405020304" pitchFamily="18" charset="0"/>
                <a:cs typeface="Times New Roman" panose="02020603050405020304" pitchFamily="18" charset="0"/>
              </a:rPr>
              <a:t>Improve Branch Performance </a:t>
            </a:r>
            <a:r>
              <a:rPr lang="en-US" sz="2400" dirty="0">
                <a:latin typeface="Times New Roman" panose="02020603050405020304" pitchFamily="18" charset="0"/>
                <a:cs typeface="Times New Roman" panose="02020603050405020304" pitchFamily="18" charset="0"/>
              </a:rPr>
              <a:t>- Support low-activity branches with events, promotions, and better resource allocation.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4296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7CF-8676-C34D-2F28-03BA2DD77F38}"/>
              </a:ext>
            </a:extLst>
          </p:cNvPr>
          <p:cNvSpPr>
            <a:spLocks noGrp="1"/>
          </p:cNvSpPr>
          <p:nvPr>
            <p:ph type="title"/>
          </p:nvPr>
        </p:nvSpPr>
        <p:spPr>
          <a:xfrm>
            <a:off x="646111" y="452718"/>
            <a:ext cx="9619679" cy="829327"/>
          </a:xfrm>
        </p:spPr>
        <p:txBody>
          <a:bodyPr/>
          <a:lstStyle/>
          <a:p>
            <a:r>
              <a:rPr lang="en-IN" sz="3200" b="1" dirty="0">
                <a:latin typeface="Times New Roman" panose="02020603050405020304" pitchFamily="18" charset="0"/>
                <a:cs typeface="Times New Roman" panose="02020603050405020304" pitchFamily="18" charset="0"/>
              </a:rPr>
              <a:t>CHALLENGES WHILE WORKING</a:t>
            </a:r>
          </a:p>
        </p:txBody>
      </p:sp>
      <p:sp>
        <p:nvSpPr>
          <p:cNvPr id="3" name="Content Placeholder 2">
            <a:extLst>
              <a:ext uri="{FF2B5EF4-FFF2-40B4-BE49-F238E27FC236}">
                <a16:creationId xmlns:a16="http://schemas.microsoft.com/office/drawing/2014/main" id="{468208C3-9B85-6775-D61C-51EB5977B4F9}"/>
              </a:ext>
            </a:extLst>
          </p:cNvPr>
          <p:cNvSpPr>
            <a:spLocks noGrp="1"/>
          </p:cNvSpPr>
          <p:nvPr>
            <p:ph idx="1"/>
          </p:nvPr>
        </p:nvSpPr>
        <p:spPr>
          <a:xfrm>
            <a:off x="646111" y="1282045"/>
            <a:ext cx="10732042" cy="5505254"/>
          </a:xfrm>
        </p:spPr>
        <p:txBody>
          <a:bodyPr>
            <a:normAutofit/>
          </a:bodyPr>
          <a:lstStyle/>
          <a:p>
            <a:r>
              <a:rPr lang="en-IN" b="1" dirty="0">
                <a:latin typeface="Times New Roman" panose="02020603050405020304" pitchFamily="18" charset="0"/>
                <a:cs typeface="Times New Roman" panose="02020603050405020304" pitchFamily="18" charset="0"/>
              </a:rPr>
              <a:t>Database Design Issues</a:t>
            </a:r>
          </a:p>
          <a:p>
            <a:pPr lvl="1"/>
            <a:r>
              <a:rPr lang="en-US" dirty="0">
                <a:latin typeface="Times New Roman" panose="02020603050405020304" pitchFamily="18" charset="0"/>
                <a:cs typeface="Times New Roman" panose="02020603050405020304" pitchFamily="18" charset="0"/>
              </a:rPr>
              <a:t>Ensuring correct table relationships (foreign keys &amp; constraints). </a:t>
            </a:r>
          </a:p>
          <a:p>
            <a:pPr lvl="1"/>
            <a:r>
              <a:rPr lang="en-US" dirty="0">
                <a:latin typeface="Times New Roman" panose="02020603050405020304" pitchFamily="18" charset="0"/>
                <a:cs typeface="Times New Roman" panose="02020603050405020304" pitchFamily="18" charset="0"/>
              </a:rPr>
              <a:t>Handling normalization while avoiding redundancy.</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Data Import &amp; Cleaning </a:t>
            </a:r>
          </a:p>
          <a:p>
            <a:pPr lvl="1"/>
            <a:r>
              <a:rPr lang="en-US" dirty="0">
                <a:latin typeface="Times New Roman" panose="02020603050405020304" pitchFamily="18" charset="0"/>
                <a:cs typeface="Times New Roman" panose="02020603050405020304" pitchFamily="18" charset="0"/>
              </a:rPr>
              <a:t>Matching column names with CSV files. </a:t>
            </a:r>
          </a:p>
          <a:p>
            <a:pPr lvl="1"/>
            <a:r>
              <a:rPr lang="en-US" dirty="0">
                <a:latin typeface="Times New Roman" panose="02020603050405020304" pitchFamily="18" charset="0"/>
                <a:cs typeface="Times New Roman" panose="02020603050405020304" pitchFamily="18" charset="0"/>
              </a:rPr>
              <a:t>Managing inconsistent/missing values during import</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SQL Query Complexity</a:t>
            </a:r>
          </a:p>
          <a:p>
            <a:pPr lvl="1"/>
            <a:r>
              <a:rPr lang="en-IN" dirty="0">
                <a:latin typeface="Times New Roman" panose="02020603050405020304" pitchFamily="18" charset="0"/>
                <a:cs typeface="Times New Roman" panose="02020603050405020304" pitchFamily="18" charset="0"/>
              </a:rPr>
              <a:t>Writing JOIN queries across multiple tables.</a:t>
            </a:r>
          </a:p>
          <a:p>
            <a:pPr lvl="1"/>
            <a:r>
              <a:rPr lang="en-IN" dirty="0">
                <a:latin typeface="Times New Roman" panose="02020603050405020304" pitchFamily="18" charset="0"/>
                <a:cs typeface="Times New Roman" panose="02020603050405020304" pitchFamily="18" charset="0"/>
              </a:rPr>
              <a:t> Handling date conditions (e.g., due dates, loans).</a:t>
            </a:r>
          </a:p>
          <a:p>
            <a:r>
              <a:rPr lang="en-IN" b="1" dirty="0">
                <a:latin typeface="Times New Roman" panose="02020603050405020304" pitchFamily="18" charset="0"/>
                <a:cs typeface="Times New Roman" panose="02020603050405020304" pitchFamily="18" charset="0"/>
              </a:rPr>
              <a:t>Debugging &amp; Errors </a:t>
            </a:r>
          </a:p>
          <a:p>
            <a:pPr lvl="1"/>
            <a:r>
              <a:rPr lang="en-US" dirty="0"/>
              <a:t>Syntax errors in queries.</a:t>
            </a:r>
          </a:p>
          <a:p>
            <a:pPr lvl="1"/>
            <a:r>
              <a:rPr lang="en-US" dirty="0"/>
              <a:t>Resolving constraint violations while inserting records.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1392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CFB1A-7F51-1D21-5575-D576474439A1}"/>
              </a:ext>
            </a:extLst>
          </p:cNvPr>
          <p:cNvSpPr>
            <a:spLocks noGrp="1"/>
          </p:cNvSpPr>
          <p:nvPr>
            <p:ph type="title"/>
          </p:nvPr>
        </p:nvSpPr>
        <p:spPr>
          <a:xfrm>
            <a:off x="646111" y="680668"/>
            <a:ext cx="9404723" cy="1400530"/>
          </a:xfrm>
        </p:spPr>
        <p:txBody>
          <a:bodyPr/>
          <a:lstStyle/>
          <a:p>
            <a:r>
              <a:rPr lang="en-IN" sz="3200" b="1" dirty="0">
                <a:latin typeface="Times New Roman" panose="02020603050405020304" pitchFamily="18" charset="0"/>
                <a:cs typeface="Times New Roman" panose="02020603050405020304" pitchFamily="18" charset="0"/>
              </a:rPr>
              <a:t>Conclusion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D36D11-E53A-0832-90F4-D98109406F84}"/>
              </a:ext>
            </a:extLst>
          </p:cNvPr>
          <p:cNvSpPr>
            <a:spLocks noGrp="1"/>
          </p:cNvSpPr>
          <p:nvPr>
            <p:ph idx="1"/>
          </p:nvPr>
        </p:nvSpPr>
        <p:spPr>
          <a:xfrm>
            <a:off x="646111" y="1545996"/>
            <a:ext cx="10477518" cy="4364611"/>
          </a:xfrm>
        </p:spPr>
        <p:txBody>
          <a:bodyPr>
            <a:normAutofit/>
          </a:bodyPr>
          <a:lstStyle/>
          <a:p>
            <a:r>
              <a:rPr lang="en-US" sz="2400" dirty="0">
                <a:latin typeface="Times New Roman" panose="02020603050405020304" pitchFamily="18" charset="0"/>
                <a:cs typeface="Times New Roman" panose="02020603050405020304" pitchFamily="18" charset="0"/>
              </a:rPr>
              <a:t>The library analysis highlights how data-driven insights can improve book circulation, borrower engagement, and branch efficiency. By addressing overdue loans, optimizing book distribution, and promoting underused branches, the library can enhance both user satisfaction and operational performance.</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9168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375</TotalTime>
  <Words>1214</Words>
  <Application>Microsoft Office PowerPoint</Application>
  <PresentationFormat>Widescreen</PresentationFormat>
  <Paragraphs>110</Paragraphs>
  <Slides>17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Lato Black</vt:lpstr>
      <vt:lpstr>Libre Baskerville</vt:lpstr>
      <vt:lpstr>Century Gothic</vt:lpstr>
      <vt:lpstr>Times New Roman</vt:lpstr>
      <vt:lpstr>Calibri</vt:lpstr>
      <vt:lpstr>Arial</vt:lpstr>
      <vt:lpstr>Wingdings 3</vt:lpstr>
      <vt:lpstr>Ion</vt:lpstr>
      <vt:lpstr>PowerPoint Presentation</vt:lpstr>
      <vt:lpstr>PowerPoint Presentation</vt:lpstr>
      <vt:lpstr>Agenda (This should be the PPT flow)  </vt:lpstr>
      <vt:lpstr>PROJECT OBJECTIVE</vt:lpstr>
      <vt:lpstr>ER Diagram and schema explanation </vt:lpstr>
      <vt:lpstr>SCHEMA EXPLAINATION</vt:lpstr>
      <vt:lpstr>RELATIONSHIPS AND DATAFLOW</vt:lpstr>
      <vt:lpstr>Book Copies at Sharpstown Branch</vt:lpstr>
      <vt:lpstr>Copies of "The Lost Tribe" in Each Branch</vt:lpstr>
      <vt:lpstr>Borrowers with No Books Checked Out</vt:lpstr>
      <vt:lpstr>Loans from Sharpstown Branch (Due: 2/3/18)</vt:lpstr>
      <vt:lpstr>Total Books Loaned by Each Branch</vt:lpstr>
      <vt:lpstr>Borrowers with More Than Five Books Checked Out</vt:lpstr>
      <vt:lpstr>Final business insights and recommendations </vt:lpstr>
      <vt:lpstr>CHALLENGES WHILE WORKING</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Sai Teemara</cp:lastModifiedBy>
  <cp:revision>10</cp:revision>
  <dcterms:created xsi:type="dcterms:W3CDTF">2021-02-16T05:19:01Z</dcterms:created>
  <dcterms:modified xsi:type="dcterms:W3CDTF">2025-11-10T11:52:22Z</dcterms:modified>
</cp:coreProperties>
</file>